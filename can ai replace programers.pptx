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7" r:id="rId2"/>
    <p:sldId id="265" r:id="rId3"/>
    <p:sldId id="261"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DFA132-FA6C-535E-321E-62165D47BAF2}" v="5" dt="2026-10-17T19:27:04.0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144" y="1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D79FA0-8AA3-4CB0-8124-E2218A58DE7E}" type="datetimeFigureOut">
              <a:t>17.10.2026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171DBA-D25D-43EC-9B70-9D13DA988E6A}" type="slidenum">
              <a:t>‹#›</a:t>
            </a:fld>
            <a:endParaRPr lang="en-US"/>
          </a:p>
        </p:txBody>
      </p:sp>
    </p:spTree>
    <p:extLst>
      <p:ext uri="{BB962C8B-B14F-4D97-AF65-F5344CB8AC3E}">
        <p14:creationId xmlns:p14="http://schemas.microsoft.com/office/powerpoint/2010/main" val="205454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a:p>
        </p:txBody>
      </p:sp>
      <p:sp>
        <p:nvSpPr>
          <p:cNvPr id="3" name="Notes Placeholder 2"/>
          <p:cNvSpPr>
            <a:spLocks noGrp="1"/>
          </p:cNvSpPr>
          <p:nvPr>
            <p:ph type="body" idx="1"/>
          </p:nvPr>
        </p:nvSpPr>
        <p:spPr/>
        <p:txBody>
          <a:bodyPr/>
          <a:lstStyle/>
          <a:p>
            <a:r>
              <a:rPr lang="en-US"/>
              <a:t>Now, let's look at how AI helps programmers in their everyday work.
First, AI can help write code. For example, a programmer can ask an AI assistant to create a simple program in Python or C.
Second, AI can help fix errors. If code is not working, AI can explain what might be wrong and suggest a solution.
Third, AI helps programmers learn faster. It can explain difficult programming concepts in simple words.
Finally, AI can save time by helping with repetitive tasks.
However, AI is not always correct, so programmers still need to check and test their code.
Now I'll pass it to the next speaker, who will explain the advantages and disadvantages of AI.
Reference: GitHub. (n.d.). Getting started with prompts for GitHub Copilot Chat in your IDE. https://docs.github.com/en/copilot/how-tos/chat-with-copilot/get-started-with-chat-in-your-ide?tool=webui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722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85216" y="502920"/>
            <a:ext cx="73152" cy="246888"/>
          </a:xfrm>
          <a:prstGeom prst="rect">
            <a:avLst/>
          </a:prstGeom>
          <a:solidFill>
            <a:srgbClr val="4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58952" y="475488"/>
            <a:ext cx="5486400" cy="320040"/>
          </a:xfrm>
          <a:prstGeom prst="rect">
            <a:avLst/>
          </a:prstGeom>
          <a:noFill/>
        </p:spPr>
        <p:txBody>
          <a:bodyPr wrap="square" lIns="27432" tIns="18288" rIns="27432">
            <a:spAutoFit/>
          </a:bodyPr>
          <a:lstStyle/>
          <a:p>
            <a:pPr>
              <a:spcAft>
                <a:spcPts val="700"/>
              </a:spcAft>
              <a:defRPr sz="1300" b="1">
                <a:solidFill>
                  <a:srgbClr val="9FF6F7"/>
                </a:solidFill>
                <a:latin typeface="Aptos"/>
              </a:defRPr>
            </a:pPr>
            <a:r>
              <a:t>CEP146  /  GROUP PRESENTATION 01</a:t>
            </a:r>
          </a:p>
        </p:txBody>
      </p:sp>
      <p:sp>
        <p:nvSpPr>
          <p:cNvPr id="5" name="TextBox 4"/>
          <p:cNvSpPr txBox="1"/>
          <p:nvPr/>
        </p:nvSpPr>
        <p:spPr>
          <a:xfrm>
            <a:off x="612648" y="950976"/>
            <a:ext cx="10881360" cy="541687"/>
          </a:xfrm>
          <a:prstGeom prst="rect">
            <a:avLst/>
          </a:prstGeom>
          <a:noFill/>
        </p:spPr>
        <p:txBody>
          <a:bodyPr wrap="square" lIns="27432" tIns="18288" rIns="27432">
            <a:spAutoFit/>
          </a:bodyPr>
          <a:lstStyle/>
          <a:p>
            <a:pPr>
              <a:spcAft>
                <a:spcPts val="700"/>
              </a:spcAft>
              <a:defRPr sz="3100" b="1">
                <a:solidFill>
                  <a:srgbClr val="F5F9FF"/>
                </a:solidFill>
                <a:latin typeface="Aptos"/>
              </a:defRPr>
            </a:pPr>
            <a:r>
              <a:rPr lang="tr-TR" sz="3100" b="1" dirty="0">
                <a:solidFill>
                  <a:srgbClr val="F5F9FF"/>
                </a:solidFill>
                <a:latin typeface="Aptos"/>
              </a:rPr>
              <a:t>BENEFITS OF AI IN PROGRAMMING</a:t>
            </a:r>
            <a:endParaRPr dirty="0"/>
          </a:p>
        </p:txBody>
      </p:sp>
      <p:sp>
        <p:nvSpPr>
          <p:cNvPr id="6" name="Rectangle 5"/>
          <p:cNvSpPr/>
          <p:nvPr/>
        </p:nvSpPr>
        <p:spPr>
          <a:xfrm>
            <a:off x="630936" y="1673352"/>
            <a:ext cx="612648" cy="41148"/>
          </a:xfrm>
          <a:prstGeom prst="rect">
            <a:avLst/>
          </a:prstGeom>
          <a:solidFill>
            <a:srgbClr val="4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56758" y="6422029"/>
            <a:ext cx="903010" cy="203133"/>
          </a:xfrm>
          <a:prstGeom prst="rect">
            <a:avLst/>
          </a:prstGeom>
          <a:noFill/>
        </p:spPr>
        <p:txBody>
          <a:bodyPr wrap="square" lIns="27432" tIns="18288" rIns="27432">
            <a:spAutoFit/>
          </a:bodyPr>
          <a:lstStyle/>
          <a:p>
            <a:pPr>
              <a:spcAft>
                <a:spcPts val="700"/>
              </a:spcAft>
              <a:defRPr sz="900" b="0">
                <a:solidFill>
                  <a:srgbClr val="CCDCED"/>
                </a:solidFill>
                <a:latin typeface="Aptos"/>
              </a:defRPr>
            </a:pPr>
            <a:r>
              <a:rPr dirty="0"/>
              <a:t>0</a:t>
            </a:r>
            <a:r>
              <a:rPr lang="tr-TR" dirty="0"/>
              <a:t>4</a:t>
            </a:r>
            <a:r>
              <a:rPr dirty="0"/>
              <a:t> / 09</a:t>
            </a:r>
          </a:p>
        </p:txBody>
      </p:sp>
      <p:sp>
        <p:nvSpPr>
          <p:cNvPr id="8" name="TextBox 7"/>
          <p:cNvSpPr txBox="1"/>
          <p:nvPr/>
        </p:nvSpPr>
        <p:spPr>
          <a:xfrm>
            <a:off x="658368" y="1856231"/>
            <a:ext cx="10789920" cy="341632"/>
          </a:xfrm>
          <a:prstGeom prst="rect">
            <a:avLst/>
          </a:prstGeom>
          <a:noFill/>
        </p:spPr>
        <p:txBody>
          <a:bodyPr wrap="square" lIns="27432" tIns="18288" rIns="27432">
            <a:spAutoFit/>
          </a:bodyPr>
          <a:lstStyle/>
          <a:p>
            <a:r>
              <a:rPr lang="tr-TR" dirty="0">
                <a:solidFill>
                  <a:schemeClr val="bg2"/>
                </a:solidFill>
              </a:rPr>
              <a:t>AI improves </a:t>
            </a:r>
            <a:r>
              <a:rPr lang="tr-TR" dirty="0" err="1">
                <a:solidFill>
                  <a:schemeClr val="bg2"/>
                </a:solidFill>
              </a:rPr>
              <a:t>productivity</a:t>
            </a:r>
            <a:r>
              <a:rPr lang="tr-TR" dirty="0">
                <a:solidFill>
                  <a:schemeClr val="bg2"/>
                </a:solidFill>
              </a:rPr>
              <a:t> </a:t>
            </a:r>
            <a:r>
              <a:rPr lang="tr-TR" dirty="0" err="1">
                <a:solidFill>
                  <a:schemeClr val="bg2"/>
                </a:solidFill>
              </a:rPr>
              <a:t>and</a:t>
            </a:r>
            <a:r>
              <a:rPr lang="tr-TR" dirty="0">
                <a:solidFill>
                  <a:schemeClr val="bg2"/>
                </a:solidFill>
              </a:rPr>
              <a:t> </a:t>
            </a:r>
            <a:r>
              <a:rPr lang="tr-TR" dirty="0" err="1">
                <a:solidFill>
                  <a:schemeClr val="bg2"/>
                </a:solidFill>
              </a:rPr>
              <a:t>helps</a:t>
            </a:r>
            <a:r>
              <a:rPr lang="tr-TR" dirty="0">
                <a:solidFill>
                  <a:schemeClr val="bg2"/>
                </a:solidFill>
              </a:rPr>
              <a:t> </a:t>
            </a:r>
            <a:r>
              <a:rPr lang="tr-TR" dirty="0" err="1">
                <a:solidFill>
                  <a:schemeClr val="bg2"/>
                </a:solidFill>
              </a:rPr>
              <a:t>developers</a:t>
            </a:r>
            <a:r>
              <a:rPr lang="tr-TR" dirty="0">
                <a:solidFill>
                  <a:schemeClr val="bg2"/>
                </a:solidFill>
              </a:rPr>
              <a:t> </a:t>
            </a:r>
            <a:r>
              <a:rPr lang="tr-TR" dirty="0" err="1">
                <a:solidFill>
                  <a:schemeClr val="bg2"/>
                </a:solidFill>
              </a:rPr>
              <a:t>complete</a:t>
            </a:r>
            <a:r>
              <a:rPr lang="tr-TR" dirty="0">
                <a:solidFill>
                  <a:schemeClr val="bg2"/>
                </a:solidFill>
              </a:rPr>
              <a:t> </a:t>
            </a:r>
            <a:r>
              <a:rPr lang="tr-TR" dirty="0" err="1">
                <a:solidFill>
                  <a:schemeClr val="bg2"/>
                </a:solidFill>
              </a:rPr>
              <a:t>tasks</a:t>
            </a:r>
            <a:r>
              <a:rPr lang="tr-TR" dirty="0">
                <a:solidFill>
                  <a:schemeClr val="bg2"/>
                </a:solidFill>
              </a:rPr>
              <a:t> </a:t>
            </a:r>
            <a:r>
              <a:rPr lang="tr-TR" dirty="0" err="1">
                <a:solidFill>
                  <a:schemeClr val="bg2"/>
                </a:solidFill>
              </a:rPr>
              <a:t>more</a:t>
            </a:r>
            <a:r>
              <a:rPr lang="tr-TR" dirty="0">
                <a:solidFill>
                  <a:schemeClr val="bg2"/>
                </a:solidFill>
              </a:rPr>
              <a:t> </a:t>
            </a:r>
            <a:r>
              <a:rPr lang="tr-TR" dirty="0" err="1">
                <a:solidFill>
                  <a:schemeClr val="bg2"/>
                </a:solidFill>
              </a:rPr>
              <a:t>efficiently</a:t>
            </a:r>
            <a:r>
              <a:rPr lang="tr-TR" dirty="0">
                <a:solidFill>
                  <a:schemeClr val="bg2"/>
                </a:solidFill>
              </a:rPr>
              <a:t>.</a:t>
            </a:r>
          </a:p>
        </p:txBody>
      </p:sp>
      <p:sp>
        <p:nvSpPr>
          <p:cNvPr id="10" name="Rounded Rectangle 9"/>
          <p:cNvSpPr/>
          <p:nvPr/>
        </p:nvSpPr>
        <p:spPr>
          <a:xfrm>
            <a:off x="612649" y="2552827"/>
            <a:ext cx="5422392" cy="1251077"/>
          </a:xfrm>
          <a:prstGeom prst="roundRect">
            <a:avLst/>
          </a:prstGeom>
          <a:solidFill>
            <a:srgbClr val="2B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6676" y="2970418"/>
            <a:ext cx="5029200" cy="557076"/>
          </a:xfrm>
          <a:prstGeom prst="rect">
            <a:avLst/>
          </a:prstGeom>
          <a:noFill/>
        </p:spPr>
        <p:txBody>
          <a:bodyPr wrap="square" lIns="27432" tIns="18288" rIns="27432">
            <a:spAutoFit/>
          </a:bodyPr>
          <a:lstStyle/>
          <a:p>
            <a:pPr>
              <a:spcAft>
                <a:spcPts val="700"/>
              </a:spcAft>
              <a:defRPr sz="1600" b="0">
                <a:solidFill>
                  <a:srgbClr val="F5F9FF"/>
                </a:solidFill>
                <a:latin typeface="Aptos"/>
              </a:defRPr>
            </a:pPr>
            <a:r>
              <a:rPr lang="tr-TR" sz="1600" dirty="0" err="1">
                <a:solidFill>
                  <a:srgbClr val="F5F9FF"/>
                </a:solidFill>
                <a:latin typeface="Aptos"/>
              </a:rPr>
              <a:t>Speeds</a:t>
            </a:r>
            <a:r>
              <a:rPr lang="tr-TR" sz="1600" dirty="0">
                <a:solidFill>
                  <a:srgbClr val="F5F9FF"/>
                </a:solidFill>
                <a:latin typeface="Aptos"/>
              </a:rPr>
              <a:t> </a:t>
            </a:r>
            <a:r>
              <a:rPr lang="tr-TR" sz="1600" dirty="0" err="1">
                <a:solidFill>
                  <a:srgbClr val="F5F9FF"/>
                </a:solidFill>
                <a:latin typeface="Aptos"/>
              </a:rPr>
              <a:t>up</a:t>
            </a:r>
            <a:r>
              <a:rPr lang="tr-TR" sz="1600" dirty="0">
                <a:solidFill>
                  <a:srgbClr val="F5F9FF"/>
                </a:solidFill>
                <a:latin typeface="Aptos"/>
              </a:rPr>
              <a:t> </a:t>
            </a:r>
            <a:r>
              <a:rPr lang="tr-TR" sz="1600" dirty="0" err="1">
                <a:solidFill>
                  <a:srgbClr val="F5F9FF"/>
                </a:solidFill>
                <a:latin typeface="Aptos"/>
              </a:rPr>
              <a:t>coding</a:t>
            </a:r>
            <a:r>
              <a:rPr lang="tr-TR" sz="1600" dirty="0">
                <a:solidFill>
                  <a:srgbClr val="F5F9FF"/>
                </a:solidFill>
                <a:latin typeface="Aptos"/>
              </a:rPr>
              <a:t> </a:t>
            </a:r>
            <a:r>
              <a:rPr lang="tr-TR" sz="1600" dirty="0" err="1">
                <a:solidFill>
                  <a:srgbClr val="F5F9FF"/>
                </a:solidFill>
                <a:latin typeface="Aptos"/>
              </a:rPr>
              <a:t>and</a:t>
            </a:r>
            <a:r>
              <a:rPr lang="tr-TR" sz="1600" dirty="0">
                <a:solidFill>
                  <a:srgbClr val="F5F9FF"/>
                </a:solidFill>
                <a:latin typeface="Aptos"/>
              </a:rPr>
              <a:t> </a:t>
            </a:r>
            <a:r>
              <a:rPr lang="tr-TR" sz="1600" dirty="0" err="1">
                <a:solidFill>
                  <a:srgbClr val="F5F9FF"/>
                </a:solidFill>
                <a:latin typeface="Aptos"/>
              </a:rPr>
              <a:t>reduces</a:t>
            </a:r>
            <a:r>
              <a:rPr lang="tr-TR" sz="1600" dirty="0">
                <a:solidFill>
                  <a:srgbClr val="F5F9FF"/>
                </a:solidFill>
                <a:latin typeface="Aptos"/>
              </a:rPr>
              <a:t> time </a:t>
            </a:r>
            <a:r>
              <a:rPr lang="tr-TR" sz="1600" dirty="0" err="1">
                <a:solidFill>
                  <a:srgbClr val="F5F9FF"/>
                </a:solidFill>
                <a:latin typeface="Aptos"/>
              </a:rPr>
              <a:t>spent</a:t>
            </a:r>
            <a:r>
              <a:rPr lang="tr-TR" sz="1600" dirty="0">
                <a:solidFill>
                  <a:srgbClr val="F5F9FF"/>
                </a:solidFill>
                <a:latin typeface="Aptos"/>
              </a:rPr>
              <a:t> on </a:t>
            </a:r>
            <a:r>
              <a:rPr lang="tr-TR" sz="1600" dirty="0" err="1">
                <a:solidFill>
                  <a:srgbClr val="F5F9FF"/>
                </a:solidFill>
                <a:latin typeface="Aptos"/>
              </a:rPr>
              <a:t>routine</a:t>
            </a:r>
            <a:r>
              <a:rPr lang="tr-TR" sz="1600" dirty="0">
                <a:solidFill>
                  <a:srgbClr val="F5F9FF"/>
                </a:solidFill>
                <a:latin typeface="Aptos"/>
              </a:rPr>
              <a:t> </a:t>
            </a:r>
            <a:r>
              <a:rPr lang="tr-TR" sz="1600" dirty="0" err="1">
                <a:solidFill>
                  <a:srgbClr val="F5F9FF"/>
                </a:solidFill>
                <a:latin typeface="Aptos"/>
              </a:rPr>
              <a:t>tasks</a:t>
            </a:r>
            <a:r>
              <a:rPr lang="tr-TR" sz="1600" dirty="0">
                <a:solidFill>
                  <a:srgbClr val="F5F9FF"/>
                </a:solidFill>
                <a:latin typeface="Aptos"/>
              </a:rPr>
              <a:t>.</a:t>
            </a:r>
            <a:r>
              <a:rPr dirty="0"/>
              <a:t>.</a:t>
            </a:r>
          </a:p>
        </p:txBody>
      </p:sp>
      <p:sp>
        <p:nvSpPr>
          <p:cNvPr id="13" name="Rounded Rectangle 12"/>
          <p:cNvSpPr/>
          <p:nvPr/>
        </p:nvSpPr>
        <p:spPr>
          <a:xfrm>
            <a:off x="6199631" y="2569464"/>
            <a:ext cx="5458969" cy="1207008"/>
          </a:xfrm>
          <a:prstGeom prst="roundRect">
            <a:avLst/>
          </a:prstGeom>
          <a:solidFill>
            <a:srgbClr val="2B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3100170"/>
            <a:ext cx="5029200" cy="557076"/>
          </a:xfrm>
          <a:prstGeom prst="rect">
            <a:avLst/>
          </a:prstGeom>
          <a:noFill/>
        </p:spPr>
        <p:txBody>
          <a:bodyPr wrap="square" lIns="27432" tIns="18288" rIns="27432">
            <a:spAutoFit/>
          </a:bodyPr>
          <a:lstStyle/>
          <a:p>
            <a:pPr>
              <a:spcAft>
                <a:spcPts val="700"/>
              </a:spcAft>
              <a:defRPr sz="1600" b="0">
                <a:solidFill>
                  <a:srgbClr val="F5F9FF"/>
                </a:solidFill>
                <a:latin typeface="Aptos"/>
              </a:defRPr>
            </a:pPr>
            <a:r>
              <a:rPr lang="tr-TR" sz="1600" dirty="0" err="1">
                <a:solidFill>
                  <a:srgbClr val="F5F9FF"/>
                </a:solidFill>
                <a:latin typeface="Aptos"/>
              </a:rPr>
              <a:t>Helps</a:t>
            </a:r>
            <a:r>
              <a:rPr lang="tr-TR" sz="1600" dirty="0">
                <a:solidFill>
                  <a:srgbClr val="F5F9FF"/>
                </a:solidFill>
                <a:latin typeface="Aptos"/>
              </a:rPr>
              <a:t> </a:t>
            </a:r>
            <a:r>
              <a:rPr lang="tr-TR" sz="1600" dirty="0" err="1">
                <a:solidFill>
                  <a:srgbClr val="F5F9FF"/>
                </a:solidFill>
                <a:latin typeface="Aptos"/>
              </a:rPr>
              <a:t>developers</a:t>
            </a:r>
            <a:r>
              <a:rPr lang="tr-TR" sz="1600" dirty="0">
                <a:solidFill>
                  <a:srgbClr val="F5F9FF"/>
                </a:solidFill>
                <a:latin typeface="Aptos"/>
              </a:rPr>
              <a:t> </a:t>
            </a:r>
            <a:r>
              <a:rPr lang="tr-TR" sz="1600" dirty="0" err="1">
                <a:solidFill>
                  <a:srgbClr val="F5F9FF"/>
                </a:solidFill>
                <a:latin typeface="Aptos"/>
              </a:rPr>
              <a:t>focus</a:t>
            </a:r>
            <a:r>
              <a:rPr lang="tr-TR" sz="1600" dirty="0">
                <a:solidFill>
                  <a:srgbClr val="F5F9FF"/>
                </a:solidFill>
                <a:latin typeface="Aptos"/>
              </a:rPr>
              <a:t> on </a:t>
            </a:r>
            <a:r>
              <a:rPr lang="tr-TR" sz="1600" dirty="0" err="1">
                <a:solidFill>
                  <a:srgbClr val="F5F9FF"/>
                </a:solidFill>
                <a:latin typeface="Aptos"/>
              </a:rPr>
              <a:t>complex</a:t>
            </a:r>
            <a:r>
              <a:rPr lang="tr-TR" sz="1600" dirty="0">
                <a:solidFill>
                  <a:srgbClr val="F5F9FF"/>
                </a:solidFill>
                <a:latin typeface="Aptos"/>
              </a:rPr>
              <a:t> </a:t>
            </a:r>
            <a:r>
              <a:rPr lang="tr-TR" sz="1600" dirty="0" err="1">
                <a:solidFill>
                  <a:srgbClr val="F5F9FF"/>
                </a:solidFill>
                <a:latin typeface="Aptos"/>
              </a:rPr>
              <a:t>problems</a:t>
            </a:r>
            <a:r>
              <a:rPr lang="tr-TR" sz="1600" dirty="0">
                <a:solidFill>
                  <a:srgbClr val="F5F9FF"/>
                </a:solidFill>
                <a:latin typeface="Aptos"/>
              </a:rPr>
              <a:t> </a:t>
            </a:r>
            <a:r>
              <a:rPr lang="tr-TR" sz="1600" dirty="0" err="1">
                <a:solidFill>
                  <a:srgbClr val="F5F9FF"/>
                </a:solidFill>
                <a:latin typeface="Aptos"/>
              </a:rPr>
              <a:t>and</a:t>
            </a:r>
            <a:r>
              <a:rPr lang="tr-TR" sz="1600" dirty="0">
                <a:solidFill>
                  <a:srgbClr val="F5F9FF"/>
                </a:solidFill>
                <a:latin typeface="Aptos"/>
              </a:rPr>
              <a:t> </a:t>
            </a:r>
            <a:r>
              <a:rPr lang="tr-TR" sz="1600" dirty="0" err="1">
                <a:solidFill>
                  <a:srgbClr val="F5F9FF"/>
                </a:solidFill>
                <a:latin typeface="Aptos"/>
              </a:rPr>
              <a:t>creative</a:t>
            </a:r>
            <a:r>
              <a:rPr lang="tr-TR" sz="1600" dirty="0">
                <a:solidFill>
                  <a:srgbClr val="F5F9FF"/>
                </a:solidFill>
                <a:latin typeface="Aptos"/>
              </a:rPr>
              <a:t> </a:t>
            </a:r>
            <a:r>
              <a:rPr lang="tr-TR" sz="1600" dirty="0" err="1">
                <a:solidFill>
                  <a:srgbClr val="F5F9FF"/>
                </a:solidFill>
                <a:latin typeface="Aptos"/>
              </a:rPr>
              <a:t>solutions</a:t>
            </a:r>
            <a:r>
              <a:rPr lang="tr-TR" sz="1600" dirty="0">
                <a:solidFill>
                  <a:srgbClr val="F5F9FF"/>
                </a:solidFill>
                <a:latin typeface="Aptos"/>
              </a:rPr>
              <a:t>.</a:t>
            </a:r>
          </a:p>
        </p:txBody>
      </p:sp>
      <p:sp>
        <p:nvSpPr>
          <p:cNvPr id="16" name="Rounded Rectangle 15"/>
          <p:cNvSpPr/>
          <p:nvPr/>
        </p:nvSpPr>
        <p:spPr>
          <a:xfrm>
            <a:off x="640080" y="4017519"/>
            <a:ext cx="5422392" cy="1267713"/>
          </a:xfrm>
          <a:prstGeom prst="roundRect">
            <a:avLst/>
          </a:prstGeom>
          <a:solidFill>
            <a:srgbClr val="2B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676" y="4130553"/>
            <a:ext cx="5029200" cy="295466"/>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1500" b="1" dirty="0">
                <a:solidFill>
                  <a:srgbClr val="45EFEB"/>
                </a:solidFill>
                <a:latin typeface="Aptos"/>
              </a:rPr>
              <a:t>CODE EXPLANATIONS</a:t>
            </a:r>
          </a:p>
        </p:txBody>
      </p:sp>
      <p:sp>
        <p:nvSpPr>
          <p:cNvPr id="18" name="TextBox 17"/>
          <p:cNvSpPr txBox="1"/>
          <p:nvPr/>
        </p:nvSpPr>
        <p:spPr>
          <a:xfrm>
            <a:off x="836676" y="4569463"/>
            <a:ext cx="5029200" cy="557076"/>
          </a:xfrm>
          <a:prstGeom prst="rect">
            <a:avLst/>
          </a:prstGeom>
          <a:noFill/>
        </p:spPr>
        <p:txBody>
          <a:bodyPr wrap="square" lIns="27432" tIns="18288" rIns="27432">
            <a:spAutoFit/>
          </a:bodyPr>
          <a:lstStyle/>
          <a:p>
            <a:pPr>
              <a:spcAft>
                <a:spcPts val="700"/>
              </a:spcAft>
              <a:defRPr sz="1600" b="0">
                <a:solidFill>
                  <a:srgbClr val="F5F9FF"/>
                </a:solidFill>
                <a:latin typeface="Aptos"/>
              </a:defRPr>
            </a:pPr>
            <a:r>
              <a:rPr lang="tr-TR" sz="1600" dirty="0" err="1">
                <a:solidFill>
                  <a:srgbClr val="F5F9FF"/>
                </a:solidFill>
                <a:latin typeface="Aptos"/>
              </a:rPr>
              <a:t>Makes</a:t>
            </a:r>
            <a:r>
              <a:rPr lang="tr-TR" sz="1600" dirty="0">
                <a:solidFill>
                  <a:srgbClr val="F5F9FF"/>
                </a:solidFill>
                <a:latin typeface="Aptos"/>
              </a:rPr>
              <a:t> </a:t>
            </a:r>
            <a:r>
              <a:rPr lang="tr-TR" sz="1600" dirty="0" err="1">
                <a:solidFill>
                  <a:srgbClr val="F5F9FF"/>
                </a:solidFill>
                <a:latin typeface="Aptos"/>
              </a:rPr>
              <a:t>unfamiliar</a:t>
            </a:r>
            <a:r>
              <a:rPr lang="tr-TR" sz="1600" dirty="0">
                <a:solidFill>
                  <a:srgbClr val="F5F9FF"/>
                </a:solidFill>
                <a:latin typeface="Aptos"/>
              </a:rPr>
              <a:t> </a:t>
            </a:r>
            <a:r>
              <a:rPr lang="tr-TR" sz="1600" dirty="0" err="1">
                <a:solidFill>
                  <a:srgbClr val="F5F9FF"/>
                </a:solidFill>
                <a:latin typeface="Aptos"/>
              </a:rPr>
              <a:t>code</a:t>
            </a:r>
            <a:r>
              <a:rPr lang="tr-TR" sz="1600" dirty="0">
                <a:solidFill>
                  <a:srgbClr val="F5F9FF"/>
                </a:solidFill>
                <a:latin typeface="Aptos"/>
              </a:rPr>
              <a:t> </a:t>
            </a:r>
            <a:r>
              <a:rPr lang="tr-TR" sz="1600" dirty="0" err="1">
                <a:solidFill>
                  <a:srgbClr val="F5F9FF"/>
                </a:solidFill>
                <a:latin typeface="Aptos"/>
              </a:rPr>
              <a:t>easier</a:t>
            </a:r>
            <a:r>
              <a:rPr lang="tr-TR" sz="1600" dirty="0">
                <a:solidFill>
                  <a:srgbClr val="F5F9FF"/>
                </a:solidFill>
                <a:latin typeface="Aptos"/>
              </a:rPr>
              <a:t> </a:t>
            </a:r>
            <a:r>
              <a:rPr lang="tr-TR" sz="1600" dirty="0" err="1">
                <a:solidFill>
                  <a:srgbClr val="F5F9FF"/>
                </a:solidFill>
                <a:latin typeface="Aptos"/>
              </a:rPr>
              <a:t>to</a:t>
            </a:r>
            <a:r>
              <a:rPr lang="tr-TR" sz="1600" dirty="0">
                <a:solidFill>
                  <a:srgbClr val="F5F9FF"/>
                </a:solidFill>
                <a:latin typeface="Aptos"/>
              </a:rPr>
              <a:t> </a:t>
            </a:r>
            <a:r>
              <a:rPr lang="tr-TR" sz="1600" dirty="0" err="1">
                <a:solidFill>
                  <a:srgbClr val="F5F9FF"/>
                </a:solidFill>
                <a:latin typeface="Aptos"/>
              </a:rPr>
              <a:t>understand</a:t>
            </a:r>
            <a:r>
              <a:rPr lang="tr-TR" sz="1600" dirty="0">
                <a:solidFill>
                  <a:srgbClr val="F5F9FF"/>
                </a:solidFill>
                <a:latin typeface="Aptos"/>
              </a:rPr>
              <a:t> </a:t>
            </a:r>
            <a:r>
              <a:rPr lang="tr-TR" sz="1600" dirty="0" err="1">
                <a:solidFill>
                  <a:srgbClr val="F5F9FF"/>
                </a:solidFill>
                <a:latin typeface="Aptos"/>
              </a:rPr>
              <a:t>and</a:t>
            </a:r>
            <a:r>
              <a:rPr lang="tr-TR" sz="1600" dirty="0">
                <a:solidFill>
                  <a:srgbClr val="F5F9FF"/>
                </a:solidFill>
                <a:latin typeface="Aptos"/>
              </a:rPr>
              <a:t> </a:t>
            </a:r>
            <a:r>
              <a:rPr lang="tr-TR" sz="1600" dirty="0" err="1">
                <a:solidFill>
                  <a:srgbClr val="F5F9FF"/>
                </a:solidFill>
                <a:latin typeface="Aptos"/>
              </a:rPr>
              <a:t>maintain</a:t>
            </a:r>
            <a:r>
              <a:rPr lang="tr-TR" sz="1600" dirty="0">
                <a:solidFill>
                  <a:srgbClr val="F5F9FF"/>
                </a:solidFill>
                <a:latin typeface="Aptos"/>
              </a:rPr>
              <a:t>.</a:t>
            </a:r>
          </a:p>
        </p:txBody>
      </p:sp>
      <p:sp>
        <p:nvSpPr>
          <p:cNvPr id="19" name="Rounded Rectangle 18"/>
          <p:cNvSpPr/>
          <p:nvPr/>
        </p:nvSpPr>
        <p:spPr>
          <a:xfrm>
            <a:off x="6236208" y="4017519"/>
            <a:ext cx="5422392" cy="1267713"/>
          </a:xfrm>
          <a:prstGeom prst="roundRect">
            <a:avLst/>
          </a:prstGeom>
          <a:solidFill>
            <a:srgbClr val="2B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4155452"/>
            <a:ext cx="5029200" cy="295466"/>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1500" b="1" dirty="0">
                <a:solidFill>
                  <a:srgbClr val="45EFEB"/>
                </a:solidFill>
                <a:latin typeface="Aptos"/>
              </a:rPr>
              <a:t>DOCUMENTATION SUPPORT</a:t>
            </a:r>
          </a:p>
        </p:txBody>
      </p:sp>
      <p:sp>
        <p:nvSpPr>
          <p:cNvPr id="21" name="TextBox 20"/>
          <p:cNvSpPr txBox="1"/>
          <p:nvPr/>
        </p:nvSpPr>
        <p:spPr>
          <a:xfrm>
            <a:off x="6400800" y="4535789"/>
            <a:ext cx="5029200" cy="557076"/>
          </a:xfrm>
          <a:prstGeom prst="rect">
            <a:avLst/>
          </a:prstGeom>
          <a:noFill/>
        </p:spPr>
        <p:txBody>
          <a:bodyPr wrap="square" lIns="27432" tIns="18288" rIns="27432">
            <a:spAutoFit/>
          </a:bodyPr>
          <a:lstStyle/>
          <a:p>
            <a:pPr>
              <a:spcAft>
                <a:spcPts val="700"/>
              </a:spcAft>
              <a:defRPr sz="1600" b="0">
                <a:solidFill>
                  <a:srgbClr val="F5F9FF"/>
                </a:solidFill>
                <a:latin typeface="Aptos"/>
              </a:defRPr>
            </a:pPr>
            <a:r>
              <a:rPr lang="tr-TR" sz="1600" dirty="0" err="1">
                <a:solidFill>
                  <a:srgbClr val="F5F9FF"/>
                </a:solidFill>
                <a:latin typeface="Aptos"/>
              </a:rPr>
              <a:t>Helps</a:t>
            </a:r>
            <a:r>
              <a:rPr lang="tr-TR" sz="1600" dirty="0">
                <a:solidFill>
                  <a:srgbClr val="F5F9FF"/>
                </a:solidFill>
                <a:latin typeface="Aptos"/>
              </a:rPr>
              <a:t> </a:t>
            </a:r>
            <a:r>
              <a:rPr lang="tr-TR" sz="1600" dirty="0" err="1">
                <a:solidFill>
                  <a:srgbClr val="F5F9FF"/>
                </a:solidFill>
                <a:latin typeface="Aptos"/>
              </a:rPr>
              <a:t>create</a:t>
            </a:r>
            <a:r>
              <a:rPr lang="tr-TR" sz="1600" dirty="0">
                <a:solidFill>
                  <a:srgbClr val="F5F9FF"/>
                </a:solidFill>
                <a:latin typeface="Aptos"/>
              </a:rPr>
              <a:t> </a:t>
            </a:r>
            <a:r>
              <a:rPr lang="tr-TR" sz="1600" dirty="0" err="1">
                <a:solidFill>
                  <a:srgbClr val="F5F9FF"/>
                </a:solidFill>
                <a:latin typeface="Aptos"/>
              </a:rPr>
              <a:t>comments</a:t>
            </a:r>
            <a:r>
              <a:rPr lang="tr-TR" sz="1600" dirty="0">
                <a:solidFill>
                  <a:srgbClr val="F5F9FF"/>
                </a:solidFill>
                <a:latin typeface="Aptos"/>
              </a:rPr>
              <a:t>, </a:t>
            </a:r>
            <a:r>
              <a:rPr lang="tr-TR" sz="1600" dirty="0" err="1">
                <a:solidFill>
                  <a:srgbClr val="F5F9FF"/>
                </a:solidFill>
                <a:latin typeface="Aptos"/>
              </a:rPr>
              <a:t>summaries</a:t>
            </a:r>
            <a:r>
              <a:rPr lang="tr-TR" sz="1600" dirty="0">
                <a:solidFill>
                  <a:srgbClr val="F5F9FF"/>
                </a:solidFill>
                <a:latin typeface="Aptos"/>
              </a:rPr>
              <a:t> </a:t>
            </a:r>
            <a:r>
              <a:rPr lang="tr-TR" sz="1600" dirty="0" err="1">
                <a:solidFill>
                  <a:srgbClr val="F5F9FF"/>
                </a:solidFill>
                <a:latin typeface="Aptos"/>
              </a:rPr>
              <a:t>and</a:t>
            </a:r>
            <a:r>
              <a:rPr lang="tr-TR" sz="1600" dirty="0">
                <a:solidFill>
                  <a:srgbClr val="F5F9FF"/>
                </a:solidFill>
                <a:latin typeface="Aptos"/>
              </a:rPr>
              <a:t> </a:t>
            </a:r>
            <a:r>
              <a:rPr lang="tr-TR" sz="1600" dirty="0" err="1">
                <a:solidFill>
                  <a:srgbClr val="F5F9FF"/>
                </a:solidFill>
                <a:latin typeface="Aptos"/>
              </a:rPr>
              <a:t>technical</a:t>
            </a:r>
            <a:r>
              <a:rPr lang="tr-TR" sz="1600" dirty="0">
                <a:solidFill>
                  <a:srgbClr val="F5F9FF"/>
                </a:solidFill>
                <a:latin typeface="Aptos"/>
              </a:rPr>
              <a:t> </a:t>
            </a:r>
            <a:r>
              <a:rPr lang="tr-TR" sz="1600" dirty="0" err="1">
                <a:solidFill>
                  <a:srgbClr val="F5F9FF"/>
                </a:solidFill>
                <a:latin typeface="Aptos"/>
              </a:rPr>
              <a:t>documentation</a:t>
            </a:r>
            <a:r>
              <a:rPr lang="tr-TR" sz="1600" dirty="0">
                <a:solidFill>
                  <a:srgbClr val="F5F9FF"/>
                </a:solidFill>
                <a:latin typeface="Aptos"/>
              </a:rPr>
              <a:t>.</a:t>
            </a:r>
          </a:p>
        </p:txBody>
      </p:sp>
      <p:sp>
        <p:nvSpPr>
          <p:cNvPr id="22" name="TextBox 21"/>
          <p:cNvSpPr txBox="1"/>
          <p:nvPr/>
        </p:nvSpPr>
        <p:spPr>
          <a:xfrm>
            <a:off x="461772" y="6422029"/>
            <a:ext cx="5349240" cy="326243"/>
          </a:xfrm>
          <a:prstGeom prst="rect">
            <a:avLst/>
          </a:prstGeom>
          <a:noFill/>
        </p:spPr>
        <p:txBody>
          <a:bodyPr wrap="square" lIns="27432" tIns="18288" rIns="27432">
            <a:spAutoFit/>
          </a:bodyPr>
          <a:lstStyle/>
          <a:p>
            <a:pPr>
              <a:spcAft>
                <a:spcPts val="700"/>
              </a:spcAft>
              <a:defRPr sz="1700" b="0">
                <a:solidFill>
                  <a:srgbClr val="F5F9FF"/>
                </a:solidFill>
                <a:latin typeface="Aptos"/>
              </a:defRPr>
            </a:pPr>
            <a:r>
              <a:rPr lang="tr-TR" sz="1700" dirty="0">
                <a:solidFill>
                  <a:schemeClr val="bg1">
                    <a:lumMod val="75000"/>
                  </a:schemeClr>
                </a:solidFill>
                <a:latin typeface="Aptos"/>
              </a:rPr>
              <a:t>SOURCE: </a:t>
            </a:r>
            <a:r>
              <a:rPr lang="tr-TR" sz="1700" dirty="0" err="1">
                <a:solidFill>
                  <a:schemeClr val="bg1">
                    <a:lumMod val="75000"/>
                  </a:schemeClr>
                </a:solidFill>
                <a:latin typeface="Aptos"/>
              </a:rPr>
              <a:t>GitHub</a:t>
            </a:r>
            <a:r>
              <a:rPr lang="tr-TR" sz="1700" dirty="0">
                <a:solidFill>
                  <a:schemeClr val="bg1">
                    <a:lumMod val="75000"/>
                  </a:schemeClr>
                </a:solidFill>
                <a:latin typeface="Aptos"/>
              </a:rPr>
              <a:t> </a:t>
            </a:r>
            <a:r>
              <a:rPr lang="tr-TR" sz="1700" dirty="0" err="1">
                <a:solidFill>
                  <a:schemeClr val="bg1">
                    <a:lumMod val="75000"/>
                  </a:schemeClr>
                </a:solidFill>
                <a:latin typeface="Aptos"/>
              </a:rPr>
              <a:t>Docs</a:t>
            </a:r>
            <a:r>
              <a:rPr lang="tr-TR" sz="1700" dirty="0">
                <a:solidFill>
                  <a:schemeClr val="bg1">
                    <a:lumMod val="75000"/>
                  </a:schemeClr>
                </a:solidFill>
                <a:latin typeface="Aptos"/>
              </a:rPr>
              <a:t> — docs.github.com/en/copilot</a:t>
            </a:r>
            <a:endParaRPr dirty="0">
              <a:solidFill>
                <a:schemeClr val="bg1">
                  <a:lumMod val="75000"/>
                </a:schemeClr>
              </a:solidFill>
            </a:endParaRPr>
          </a:p>
        </p:txBody>
      </p:sp>
      <p:sp>
        <p:nvSpPr>
          <p:cNvPr id="24" name="TextBox 19">
            <a:extLst>
              <a:ext uri="{FF2B5EF4-FFF2-40B4-BE49-F238E27FC236}">
                <a16:creationId xmlns:a16="http://schemas.microsoft.com/office/drawing/2014/main" id="{FC19B9F3-84C7-C623-5650-E145C1127C6D}"/>
              </a:ext>
            </a:extLst>
          </p:cNvPr>
          <p:cNvSpPr txBox="1"/>
          <p:nvPr/>
        </p:nvSpPr>
        <p:spPr>
          <a:xfrm>
            <a:off x="836676" y="2596189"/>
            <a:ext cx="5029200" cy="616066"/>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1500" b="1" dirty="0">
                <a:solidFill>
                  <a:srgbClr val="45EFEB"/>
                </a:solidFill>
                <a:latin typeface="Aptos"/>
              </a:rPr>
              <a:t>FASTER DEVELOPMENT</a:t>
            </a:r>
          </a:p>
          <a:p>
            <a:pPr>
              <a:spcAft>
                <a:spcPts val="700"/>
              </a:spcAft>
              <a:defRPr sz="1500" b="1">
                <a:solidFill>
                  <a:srgbClr val="45EFEB"/>
                </a:solidFill>
                <a:latin typeface="Aptos"/>
              </a:defRPr>
            </a:pPr>
            <a:endParaRPr dirty="0"/>
          </a:p>
        </p:txBody>
      </p:sp>
      <p:sp>
        <p:nvSpPr>
          <p:cNvPr id="26" name="TextBox 19">
            <a:extLst>
              <a:ext uri="{FF2B5EF4-FFF2-40B4-BE49-F238E27FC236}">
                <a16:creationId xmlns:a16="http://schemas.microsoft.com/office/drawing/2014/main" id="{95BD68C3-3C71-4F3E-5D33-540E142CA0BB}"/>
              </a:ext>
            </a:extLst>
          </p:cNvPr>
          <p:cNvSpPr txBox="1"/>
          <p:nvPr/>
        </p:nvSpPr>
        <p:spPr>
          <a:xfrm>
            <a:off x="6400800" y="2773279"/>
            <a:ext cx="5029200" cy="295466"/>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1500" b="1" dirty="0">
                <a:solidFill>
                  <a:srgbClr val="45EFEB"/>
                </a:solidFill>
                <a:latin typeface="Aptos"/>
              </a:rPr>
              <a:t>BETTER PRODUCTIVITY</a:t>
            </a:r>
          </a:p>
        </p:txBody>
      </p:sp>
      <p:sp>
        <p:nvSpPr>
          <p:cNvPr id="28" name="TextBox 16">
            <a:extLst>
              <a:ext uri="{FF2B5EF4-FFF2-40B4-BE49-F238E27FC236}">
                <a16:creationId xmlns:a16="http://schemas.microsoft.com/office/drawing/2014/main" id="{47E64B2C-4F71-37FE-0DDB-CD9D40961714}"/>
              </a:ext>
            </a:extLst>
          </p:cNvPr>
          <p:cNvSpPr txBox="1"/>
          <p:nvPr/>
        </p:nvSpPr>
        <p:spPr>
          <a:xfrm>
            <a:off x="621792" y="5289133"/>
            <a:ext cx="5029200" cy="526298"/>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1500" b="1" dirty="0">
                <a:solidFill>
                  <a:srgbClr val="45EFEB"/>
                </a:solidFill>
                <a:latin typeface="Aptos"/>
              </a:rPr>
              <a:t>AI WORKS BEST WHEN DEVELOPERS REVIEW ITS OUTPUTT.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A7393-E134-7502-CD0E-BD91ED8FDE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40FB2F-BD8B-03C8-5549-33B6A9E895F7}"/>
              </a:ext>
            </a:extLst>
          </p:cNvPr>
          <p:cNvSpPr/>
          <p:nvPr/>
        </p:nvSpPr>
        <p:spPr>
          <a:xfrm>
            <a:off x="0" y="0"/>
            <a:ext cx="12191695" cy="6858000"/>
          </a:xfrm>
          <a:prstGeom prst="rect">
            <a:avLst/>
          </a:prstGeom>
          <a:solidFill>
            <a:srgbClr val="12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6BDB693-6E5A-0562-4575-FC6A0486BB09}"/>
              </a:ext>
            </a:extLst>
          </p:cNvPr>
          <p:cNvSpPr/>
          <p:nvPr/>
        </p:nvSpPr>
        <p:spPr>
          <a:xfrm>
            <a:off x="585216" y="502920"/>
            <a:ext cx="73152" cy="246888"/>
          </a:xfrm>
          <a:prstGeom prst="rect">
            <a:avLst/>
          </a:prstGeom>
          <a:solidFill>
            <a:srgbClr val="4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74827BB-96B7-13B4-7548-CB82FBA38473}"/>
              </a:ext>
            </a:extLst>
          </p:cNvPr>
          <p:cNvSpPr txBox="1"/>
          <p:nvPr/>
        </p:nvSpPr>
        <p:spPr>
          <a:xfrm>
            <a:off x="758952" y="475488"/>
            <a:ext cx="5486400" cy="320040"/>
          </a:xfrm>
          <a:prstGeom prst="rect">
            <a:avLst/>
          </a:prstGeom>
          <a:noFill/>
        </p:spPr>
        <p:txBody>
          <a:bodyPr wrap="square" lIns="27432" tIns="18288" rIns="27432">
            <a:spAutoFit/>
          </a:bodyPr>
          <a:lstStyle/>
          <a:p>
            <a:pPr>
              <a:spcAft>
                <a:spcPts val="700"/>
              </a:spcAft>
              <a:defRPr sz="1300" b="1">
                <a:solidFill>
                  <a:srgbClr val="9FF6F7"/>
                </a:solidFill>
                <a:latin typeface="Aptos"/>
              </a:defRPr>
            </a:pPr>
            <a:r>
              <a:t>CEP146  /  GROUP PRESENTATION 01</a:t>
            </a:r>
          </a:p>
        </p:txBody>
      </p:sp>
      <p:sp>
        <p:nvSpPr>
          <p:cNvPr id="5" name="TextBox 4">
            <a:extLst>
              <a:ext uri="{FF2B5EF4-FFF2-40B4-BE49-F238E27FC236}">
                <a16:creationId xmlns:a16="http://schemas.microsoft.com/office/drawing/2014/main" id="{22E47DC4-D7C6-02BB-3928-4DC76DCCF534}"/>
              </a:ext>
            </a:extLst>
          </p:cNvPr>
          <p:cNvSpPr txBox="1"/>
          <p:nvPr/>
        </p:nvSpPr>
        <p:spPr>
          <a:xfrm>
            <a:off x="612648" y="950977"/>
            <a:ext cx="10451592" cy="541687"/>
          </a:xfrm>
          <a:prstGeom prst="rect">
            <a:avLst/>
          </a:prstGeom>
          <a:noFill/>
        </p:spPr>
        <p:txBody>
          <a:bodyPr wrap="square" lIns="27432" tIns="18288" rIns="27432">
            <a:spAutoFit/>
          </a:bodyPr>
          <a:lstStyle/>
          <a:p>
            <a:pPr>
              <a:spcAft>
                <a:spcPts val="700"/>
              </a:spcAft>
              <a:defRPr sz="3100" b="1">
                <a:solidFill>
                  <a:srgbClr val="F5F9FF"/>
                </a:solidFill>
                <a:latin typeface="Aptos"/>
              </a:defRPr>
            </a:pPr>
            <a:r>
              <a:rPr lang="tr-TR" sz="3100" b="1" dirty="0">
                <a:solidFill>
                  <a:srgbClr val="F5F9FF"/>
                </a:solidFill>
                <a:latin typeface="Aptos"/>
              </a:rPr>
              <a:t>LIMITATIONS AND RISKS OF AI</a:t>
            </a:r>
          </a:p>
        </p:txBody>
      </p:sp>
      <p:sp>
        <p:nvSpPr>
          <p:cNvPr id="6" name="Rectangle 5">
            <a:extLst>
              <a:ext uri="{FF2B5EF4-FFF2-40B4-BE49-F238E27FC236}">
                <a16:creationId xmlns:a16="http://schemas.microsoft.com/office/drawing/2014/main" id="{A5093D1D-DCC0-25AF-5CDE-9B4622487E95}"/>
              </a:ext>
            </a:extLst>
          </p:cNvPr>
          <p:cNvSpPr/>
          <p:nvPr/>
        </p:nvSpPr>
        <p:spPr>
          <a:xfrm>
            <a:off x="658368" y="1494878"/>
            <a:ext cx="612648" cy="41148"/>
          </a:xfrm>
          <a:prstGeom prst="rect">
            <a:avLst/>
          </a:prstGeom>
          <a:solidFill>
            <a:srgbClr val="45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5F1E9A3-845B-0BD1-EBDC-D7ADDBA0E607}"/>
              </a:ext>
            </a:extLst>
          </p:cNvPr>
          <p:cNvSpPr txBox="1"/>
          <p:nvPr/>
        </p:nvSpPr>
        <p:spPr>
          <a:xfrm>
            <a:off x="11026942" y="6445012"/>
            <a:ext cx="903010" cy="203133"/>
          </a:xfrm>
          <a:prstGeom prst="rect">
            <a:avLst/>
          </a:prstGeom>
          <a:noFill/>
        </p:spPr>
        <p:txBody>
          <a:bodyPr wrap="square" lIns="27432" tIns="18288" rIns="27432">
            <a:spAutoFit/>
          </a:bodyPr>
          <a:lstStyle/>
          <a:p>
            <a:pPr>
              <a:spcAft>
                <a:spcPts val="700"/>
              </a:spcAft>
              <a:defRPr sz="900" b="0">
                <a:solidFill>
                  <a:srgbClr val="CCDCED"/>
                </a:solidFill>
                <a:latin typeface="Aptos"/>
              </a:defRPr>
            </a:pPr>
            <a:r>
              <a:rPr dirty="0"/>
              <a:t>0</a:t>
            </a:r>
            <a:r>
              <a:rPr lang="tr-TR" dirty="0"/>
              <a:t>5 </a:t>
            </a:r>
            <a:r>
              <a:rPr dirty="0"/>
              <a:t>/ 09</a:t>
            </a:r>
          </a:p>
        </p:txBody>
      </p:sp>
      <p:sp>
        <p:nvSpPr>
          <p:cNvPr id="8" name="TextBox 7">
            <a:extLst>
              <a:ext uri="{FF2B5EF4-FFF2-40B4-BE49-F238E27FC236}">
                <a16:creationId xmlns:a16="http://schemas.microsoft.com/office/drawing/2014/main" id="{F6AF33D6-A571-5539-CFEB-CB81ACFD3DDB}"/>
              </a:ext>
            </a:extLst>
          </p:cNvPr>
          <p:cNvSpPr txBox="1"/>
          <p:nvPr/>
        </p:nvSpPr>
        <p:spPr>
          <a:xfrm>
            <a:off x="612648" y="1636108"/>
            <a:ext cx="10789920" cy="341632"/>
          </a:xfrm>
          <a:prstGeom prst="rect">
            <a:avLst/>
          </a:prstGeom>
          <a:noFill/>
        </p:spPr>
        <p:txBody>
          <a:bodyPr wrap="square" lIns="27432" tIns="18288" rIns="27432">
            <a:spAutoFit/>
          </a:bodyPr>
          <a:lstStyle/>
          <a:p>
            <a:r>
              <a:rPr lang="en-US" dirty="0">
                <a:solidFill>
                  <a:schemeClr val="bg2"/>
                </a:solidFill>
              </a:rPr>
              <a:t>AI is powerful, but it cannot always produce reliable or secure cod</a:t>
            </a:r>
            <a:r>
              <a:rPr lang="tr-TR" dirty="0">
                <a:solidFill>
                  <a:schemeClr val="bg2"/>
                </a:solidFill>
              </a:rPr>
              <a:t>e.</a:t>
            </a:r>
          </a:p>
        </p:txBody>
      </p:sp>
      <p:sp>
        <p:nvSpPr>
          <p:cNvPr id="10" name="Rounded Rectangle 9">
            <a:extLst>
              <a:ext uri="{FF2B5EF4-FFF2-40B4-BE49-F238E27FC236}">
                <a16:creationId xmlns:a16="http://schemas.microsoft.com/office/drawing/2014/main" id="{7F35D8B4-A1EA-D6A6-3ABD-506656869248}"/>
              </a:ext>
            </a:extLst>
          </p:cNvPr>
          <p:cNvSpPr/>
          <p:nvPr/>
        </p:nvSpPr>
        <p:spPr>
          <a:xfrm>
            <a:off x="548639" y="2020921"/>
            <a:ext cx="5422392" cy="1251077"/>
          </a:xfrm>
          <a:prstGeom prst="roundRect">
            <a:avLst/>
          </a:prstGeom>
          <a:solidFill>
            <a:srgbClr val="2B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E848659A-5DA0-D441-329D-46FC143AF833}"/>
              </a:ext>
            </a:extLst>
          </p:cNvPr>
          <p:cNvSpPr txBox="1"/>
          <p:nvPr/>
        </p:nvSpPr>
        <p:spPr>
          <a:xfrm>
            <a:off x="612648" y="2617852"/>
            <a:ext cx="5029200" cy="310854"/>
          </a:xfrm>
          <a:prstGeom prst="rect">
            <a:avLst/>
          </a:prstGeom>
          <a:noFill/>
        </p:spPr>
        <p:txBody>
          <a:bodyPr wrap="square" lIns="27432" tIns="18288" rIns="27432">
            <a:spAutoFit/>
          </a:bodyPr>
          <a:lstStyle/>
          <a:p>
            <a:pPr>
              <a:spcAft>
                <a:spcPts val="700"/>
              </a:spcAft>
              <a:defRPr sz="1600" b="0">
                <a:solidFill>
                  <a:srgbClr val="F5F9FF"/>
                </a:solidFill>
                <a:latin typeface="Aptos"/>
              </a:defRPr>
            </a:pPr>
            <a:r>
              <a:rPr lang="tr-TR" sz="1600" dirty="0">
                <a:solidFill>
                  <a:srgbClr val="F5F9FF"/>
                </a:solidFill>
                <a:latin typeface="Aptos"/>
              </a:rPr>
              <a:t>AI </a:t>
            </a:r>
            <a:r>
              <a:rPr lang="tr-TR" sz="1600" dirty="0" err="1">
                <a:solidFill>
                  <a:srgbClr val="F5F9FF"/>
                </a:solidFill>
                <a:latin typeface="Aptos"/>
              </a:rPr>
              <a:t>may</a:t>
            </a:r>
            <a:r>
              <a:rPr lang="tr-TR" sz="1600" dirty="0">
                <a:solidFill>
                  <a:srgbClr val="F5F9FF"/>
                </a:solidFill>
                <a:latin typeface="Aptos"/>
              </a:rPr>
              <a:t> </a:t>
            </a:r>
            <a:r>
              <a:rPr lang="tr-TR" sz="1600" dirty="0" err="1">
                <a:solidFill>
                  <a:srgbClr val="F5F9FF"/>
                </a:solidFill>
                <a:latin typeface="Aptos"/>
              </a:rPr>
              <a:t>generate</a:t>
            </a:r>
            <a:r>
              <a:rPr lang="tr-TR" sz="1600" dirty="0">
                <a:solidFill>
                  <a:srgbClr val="F5F9FF"/>
                </a:solidFill>
                <a:latin typeface="Aptos"/>
              </a:rPr>
              <a:t> </a:t>
            </a:r>
            <a:r>
              <a:rPr lang="tr-TR" sz="1600" dirty="0" err="1">
                <a:solidFill>
                  <a:srgbClr val="F5F9FF"/>
                </a:solidFill>
                <a:latin typeface="Aptos"/>
              </a:rPr>
              <a:t>code</a:t>
            </a:r>
            <a:r>
              <a:rPr lang="tr-TR" sz="1600" dirty="0">
                <a:solidFill>
                  <a:srgbClr val="F5F9FF"/>
                </a:solidFill>
                <a:latin typeface="Aptos"/>
              </a:rPr>
              <a:t> </a:t>
            </a:r>
            <a:r>
              <a:rPr lang="tr-TR" sz="1600" dirty="0" err="1">
                <a:solidFill>
                  <a:srgbClr val="F5F9FF"/>
                </a:solidFill>
                <a:latin typeface="Aptos"/>
              </a:rPr>
              <a:t>with</a:t>
            </a:r>
            <a:r>
              <a:rPr lang="tr-TR" sz="1600" dirty="0">
                <a:solidFill>
                  <a:srgbClr val="F5F9FF"/>
                </a:solidFill>
                <a:latin typeface="Aptos"/>
              </a:rPr>
              <a:t> </a:t>
            </a:r>
            <a:r>
              <a:rPr lang="tr-TR" sz="1600" dirty="0" err="1">
                <a:solidFill>
                  <a:srgbClr val="F5F9FF"/>
                </a:solidFill>
                <a:latin typeface="Aptos"/>
              </a:rPr>
              <a:t>bugs</a:t>
            </a:r>
            <a:r>
              <a:rPr lang="tr-TR" sz="1600" dirty="0">
                <a:solidFill>
                  <a:srgbClr val="F5F9FF"/>
                </a:solidFill>
                <a:latin typeface="Aptos"/>
              </a:rPr>
              <a:t> </a:t>
            </a:r>
            <a:r>
              <a:rPr lang="tr-TR" sz="1600" dirty="0" err="1">
                <a:solidFill>
                  <a:srgbClr val="F5F9FF"/>
                </a:solidFill>
                <a:latin typeface="Aptos"/>
              </a:rPr>
              <a:t>or</a:t>
            </a:r>
            <a:r>
              <a:rPr lang="tr-TR" sz="1600" dirty="0">
                <a:solidFill>
                  <a:srgbClr val="F5F9FF"/>
                </a:solidFill>
                <a:latin typeface="Aptos"/>
              </a:rPr>
              <a:t> </a:t>
            </a:r>
            <a:r>
              <a:rPr lang="tr-TR" sz="1600" dirty="0" err="1">
                <a:solidFill>
                  <a:srgbClr val="F5F9FF"/>
                </a:solidFill>
                <a:latin typeface="Aptos"/>
              </a:rPr>
              <a:t>incorrect</a:t>
            </a:r>
            <a:r>
              <a:rPr lang="tr-TR" sz="1600" dirty="0">
                <a:solidFill>
                  <a:srgbClr val="F5F9FF"/>
                </a:solidFill>
                <a:latin typeface="Aptos"/>
              </a:rPr>
              <a:t> </a:t>
            </a:r>
            <a:r>
              <a:rPr lang="tr-TR" sz="1600" dirty="0" err="1">
                <a:solidFill>
                  <a:srgbClr val="F5F9FF"/>
                </a:solidFill>
                <a:latin typeface="Aptos"/>
              </a:rPr>
              <a:t>results</a:t>
            </a:r>
            <a:r>
              <a:rPr lang="tr-TR" sz="1600" dirty="0">
                <a:solidFill>
                  <a:srgbClr val="F5F9FF"/>
                </a:solidFill>
                <a:latin typeface="Aptos"/>
              </a:rPr>
              <a:t>.</a:t>
            </a:r>
          </a:p>
        </p:txBody>
      </p:sp>
      <p:sp>
        <p:nvSpPr>
          <p:cNvPr id="13" name="Rounded Rectangle 12">
            <a:extLst>
              <a:ext uri="{FF2B5EF4-FFF2-40B4-BE49-F238E27FC236}">
                <a16:creationId xmlns:a16="http://schemas.microsoft.com/office/drawing/2014/main" id="{834853A9-FB75-01A2-4EB6-BD4BF025F4FC}"/>
              </a:ext>
            </a:extLst>
          </p:cNvPr>
          <p:cNvSpPr/>
          <p:nvPr/>
        </p:nvSpPr>
        <p:spPr>
          <a:xfrm>
            <a:off x="6159526" y="2025957"/>
            <a:ext cx="5499074" cy="1253470"/>
          </a:xfrm>
          <a:prstGeom prst="roundRect">
            <a:avLst/>
          </a:prstGeom>
          <a:solidFill>
            <a:srgbClr val="2B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477C85AF-DBB2-0F27-7DFF-E40879608A1C}"/>
              </a:ext>
            </a:extLst>
          </p:cNvPr>
          <p:cNvSpPr txBox="1"/>
          <p:nvPr/>
        </p:nvSpPr>
        <p:spPr>
          <a:xfrm>
            <a:off x="6432804" y="2476111"/>
            <a:ext cx="5029200" cy="557076"/>
          </a:xfrm>
          <a:prstGeom prst="rect">
            <a:avLst/>
          </a:prstGeom>
          <a:noFill/>
        </p:spPr>
        <p:txBody>
          <a:bodyPr wrap="square" lIns="27432" tIns="18288" rIns="27432">
            <a:spAutoFit/>
          </a:bodyPr>
          <a:lstStyle/>
          <a:p>
            <a:pPr>
              <a:spcAft>
                <a:spcPts val="700"/>
              </a:spcAft>
              <a:defRPr sz="1600" b="0">
                <a:solidFill>
                  <a:srgbClr val="F5F9FF"/>
                </a:solidFill>
                <a:latin typeface="Aptos"/>
              </a:defRPr>
            </a:pPr>
            <a:r>
              <a:rPr lang="tr-TR" sz="1600" dirty="0" err="1">
                <a:solidFill>
                  <a:srgbClr val="F5F9FF"/>
                </a:solidFill>
                <a:latin typeface="Aptos"/>
              </a:rPr>
              <a:t>Generated</a:t>
            </a:r>
            <a:r>
              <a:rPr lang="tr-TR" sz="1600" dirty="0">
                <a:solidFill>
                  <a:srgbClr val="F5F9FF"/>
                </a:solidFill>
                <a:latin typeface="Aptos"/>
              </a:rPr>
              <a:t> </a:t>
            </a:r>
            <a:r>
              <a:rPr lang="tr-TR" sz="1600" dirty="0" err="1">
                <a:solidFill>
                  <a:srgbClr val="F5F9FF"/>
                </a:solidFill>
                <a:latin typeface="Aptos"/>
              </a:rPr>
              <a:t>code</a:t>
            </a:r>
            <a:r>
              <a:rPr lang="tr-TR" sz="1600" dirty="0">
                <a:solidFill>
                  <a:srgbClr val="F5F9FF"/>
                </a:solidFill>
                <a:latin typeface="Aptos"/>
              </a:rPr>
              <a:t> </a:t>
            </a:r>
            <a:r>
              <a:rPr lang="tr-TR" sz="1600" dirty="0" err="1">
                <a:solidFill>
                  <a:srgbClr val="F5F9FF"/>
                </a:solidFill>
                <a:latin typeface="Aptos"/>
              </a:rPr>
              <a:t>may</a:t>
            </a:r>
            <a:r>
              <a:rPr lang="tr-TR" sz="1600" dirty="0">
                <a:solidFill>
                  <a:srgbClr val="F5F9FF"/>
                </a:solidFill>
                <a:latin typeface="Aptos"/>
              </a:rPr>
              <a:t> </a:t>
            </a:r>
            <a:r>
              <a:rPr lang="tr-TR" sz="1600" dirty="0" err="1">
                <a:solidFill>
                  <a:srgbClr val="F5F9FF"/>
                </a:solidFill>
                <a:latin typeface="Aptos"/>
              </a:rPr>
              <a:t>contain</a:t>
            </a:r>
            <a:r>
              <a:rPr lang="tr-TR" sz="1600" dirty="0">
                <a:solidFill>
                  <a:srgbClr val="F5F9FF"/>
                </a:solidFill>
                <a:latin typeface="Aptos"/>
              </a:rPr>
              <a:t> </a:t>
            </a:r>
            <a:r>
              <a:rPr lang="tr-TR" sz="1600" dirty="0" err="1">
                <a:solidFill>
                  <a:srgbClr val="F5F9FF"/>
                </a:solidFill>
                <a:latin typeface="Aptos"/>
              </a:rPr>
              <a:t>vulnerabilities</a:t>
            </a:r>
            <a:r>
              <a:rPr lang="tr-TR" sz="1600" dirty="0">
                <a:solidFill>
                  <a:srgbClr val="F5F9FF"/>
                </a:solidFill>
                <a:latin typeface="Aptos"/>
              </a:rPr>
              <a:t> </a:t>
            </a:r>
            <a:r>
              <a:rPr lang="tr-TR" sz="1600" dirty="0" err="1">
                <a:solidFill>
                  <a:srgbClr val="F5F9FF"/>
                </a:solidFill>
                <a:latin typeface="Aptos"/>
              </a:rPr>
              <a:t>or</a:t>
            </a:r>
            <a:r>
              <a:rPr lang="tr-TR" sz="1600" dirty="0">
                <a:solidFill>
                  <a:srgbClr val="F5F9FF"/>
                </a:solidFill>
                <a:latin typeface="Aptos"/>
              </a:rPr>
              <a:t> </a:t>
            </a:r>
            <a:r>
              <a:rPr lang="tr-TR" sz="1600" dirty="0" err="1">
                <a:solidFill>
                  <a:srgbClr val="F5F9FF"/>
                </a:solidFill>
                <a:latin typeface="Aptos"/>
              </a:rPr>
              <a:t>unsafe</a:t>
            </a:r>
            <a:r>
              <a:rPr lang="tr-TR" sz="1600" dirty="0">
                <a:solidFill>
                  <a:srgbClr val="F5F9FF"/>
                </a:solidFill>
                <a:latin typeface="Aptos"/>
              </a:rPr>
              <a:t> </a:t>
            </a:r>
            <a:r>
              <a:rPr lang="tr-TR" sz="1600" dirty="0" err="1">
                <a:solidFill>
                  <a:srgbClr val="F5F9FF"/>
                </a:solidFill>
                <a:latin typeface="Aptos"/>
              </a:rPr>
              <a:t>practices</a:t>
            </a:r>
            <a:r>
              <a:rPr lang="tr-TR" sz="1600" dirty="0">
                <a:solidFill>
                  <a:srgbClr val="F5F9FF"/>
                </a:solidFill>
                <a:latin typeface="Aptos"/>
              </a:rPr>
              <a:t>.</a:t>
            </a:r>
          </a:p>
        </p:txBody>
      </p:sp>
      <p:sp>
        <p:nvSpPr>
          <p:cNvPr id="16" name="Rounded Rectangle 15">
            <a:extLst>
              <a:ext uri="{FF2B5EF4-FFF2-40B4-BE49-F238E27FC236}">
                <a16:creationId xmlns:a16="http://schemas.microsoft.com/office/drawing/2014/main" id="{688E55EA-51CC-742A-D72C-7EAA3EE8EA43}"/>
              </a:ext>
            </a:extLst>
          </p:cNvPr>
          <p:cNvSpPr/>
          <p:nvPr/>
        </p:nvSpPr>
        <p:spPr>
          <a:xfrm>
            <a:off x="557784" y="3509799"/>
            <a:ext cx="5422392" cy="1267713"/>
          </a:xfrm>
          <a:prstGeom prst="roundRect">
            <a:avLst/>
          </a:prstGeom>
          <a:solidFill>
            <a:srgbClr val="2B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a:extLst>
              <a:ext uri="{FF2B5EF4-FFF2-40B4-BE49-F238E27FC236}">
                <a16:creationId xmlns:a16="http://schemas.microsoft.com/office/drawing/2014/main" id="{BE1457AF-378F-006D-FE64-210458D4C490}"/>
              </a:ext>
            </a:extLst>
          </p:cNvPr>
          <p:cNvSpPr txBox="1"/>
          <p:nvPr/>
        </p:nvSpPr>
        <p:spPr>
          <a:xfrm>
            <a:off x="661095" y="3620279"/>
            <a:ext cx="5029200" cy="295466"/>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1500" b="1" dirty="0">
                <a:solidFill>
                  <a:srgbClr val="45EFEB"/>
                </a:solidFill>
                <a:latin typeface="Aptos"/>
              </a:rPr>
              <a:t>LIMITED UNDERSTANDING</a:t>
            </a:r>
          </a:p>
        </p:txBody>
      </p:sp>
      <p:sp>
        <p:nvSpPr>
          <p:cNvPr id="18" name="TextBox 17">
            <a:extLst>
              <a:ext uri="{FF2B5EF4-FFF2-40B4-BE49-F238E27FC236}">
                <a16:creationId xmlns:a16="http://schemas.microsoft.com/office/drawing/2014/main" id="{61D0D2A9-A1DA-43D6-1640-B595EABA02D0}"/>
              </a:ext>
            </a:extLst>
          </p:cNvPr>
          <p:cNvSpPr txBox="1"/>
          <p:nvPr/>
        </p:nvSpPr>
        <p:spPr>
          <a:xfrm>
            <a:off x="673913" y="3937314"/>
            <a:ext cx="5029200" cy="557076"/>
          </a:xfrm>
          <a:prstGeom prst="rect">
            <a:avLst/>
          </a:prstGeom>
          <a:noFill/>
        </p:spPr>
        <p:txBody>
          <a:bodyPr wrap="square" lIns="27432" tIns="18288" rIns="27432">
            <a:spAutoFit/>
          </a:bodyPr>
          <a:lstStyle/>
          <a:p>
            <a:pPr>
              <a:spcAft>
                <a:spcPts val="700"/>
              </a:spcAft>
              <a:defRPr sz="1600" b="0">
                <a:solidFill>
                  <a:srgbClr val="F5F9FF"/>
                </a:solidFill>
                <a:latin typeface="Aptos"/>
              </a:defRPr>
            </a:pPr>
            <a:r>
              <a:rPr lang="tr-TR" sz="1600" dirty="0">
                <a:solidFill>
                  <a:srgbClr val="F5F9FF"/>
                </a:solidFill>
                <a:latin typeface="Aptos"/>
              </a:rPr>
              <a:t>AI </a:t>
            </a:r>
            <a:r>
              <a:rPr lang="tr-TR" sz="1600" dirty="0" err="1">
                <a:solidFill>
                  <a:srgbClr val="F5F9FF"/>
                </a:solidFill>
                <a:latin typeface="Aptos"/>
              </a:rPr>
              <a:t>may</a:t>
            </a:r>
            <a:r>
              <a:rPr lang="tr-TR" sz="1600" dirty="0">
                <a:solidFill>
                  <a:srgbClr val="F5F9FF"/>
                </a:solidFill>
                <a:latin typeface="Aptos"/>
              </a:rPr>
              <a:t> </a:t>
            </a:r>
            <a:r>
              <a:rPr lang="tr-TR" sz="1600" dirty="0" err="1">
                <a:solidFill>
                  <a:srgbClr val="F5F9FF"/>
                </a:solidFill>
                <a:latin typeface="Aptos"/>
              </a:rPr>
              <a:t>misunderstand</a:t>
            </a:r>
            <a:r>
              <a:rPr lang="tr-TR" sz="1600" dirty="0">
                <a:solidFill>
                  <a:srgbClr val="F5F9FF"/>
                </a:solidFill>
                <a:latin typeface="Aptos"/>
              </a:rPr>
              <a:t> </a:t>
            </a:r>
            <a:r>
              <a:rPr lang="tr-TR" sz="1600" dirty="0" err="1">
                <a:solidFill>
                  <a:srgbClr val="F5F9FF"/>
                </a:solidFill>
                <a:latin typeface="Aptos"/>
              </a:rPr>
              <a:t>requirements</a:t>
            </a:r>
            <a:r>
              <a:rPr lang="tr-TR" sz="1600" dirty="0">
                <a:solidFill>
                  <a:srgbClr val="F5F9FF"/>
                </a:solidFill>
                <a:latin typeface="Aptos"/>
              </a:rPr>
              <a:t> </a:t>
            </a:r>
            <a:r>
              <a:rPr lang="tr-TR" sz="1600" dirty="0" err="1">
                <a:solidFill>
                  <a:srgbClr val="F5F9FF"/>
                </a:solidFill>
                <a:latin typeface="Aptos"/>
              </a:rPr>
              <a:t>or</a:t>
            </a:r>
            <a:r>
              <a:rPr lang="tr-TR" sz="1600" dirty="0">
                <a:solidFill>
                  <a:srgbClr val="F5F9FF"/>
                </a:solidFill>
                <a:latin typeface="Aptos"/>
              </a:rPr>
              <a:t> </a:t>
            </a:r>
            <a:r>
              <a:rPr lang="tr-TR" sz="1600" dirty="0" err="1">
                <a:solidFill>
                  <a:srgbClr val="F5F9FF"/>
                </a:solidFill>
                <a:latin typeface="Aptos"/>
              </a:rPr>
              <a:t>complex</a:t>
            </a:r>
            <a:r>
              <a:rPr lang="tr-TR" sz="1600" dirty="0">
                <a:solidFill>
                  <a:srgbClr val="F5F9FF"/>
                </a:solidFill>
                <a:latin typeface="Aptos"/>
              </a:rPr>
              <a:t> </a:t>
            </a:r>
            <a:r>
              <a:rPr lang="tr-TR" sz="1600" dirty="0" err="1">
                <a:solidFill>
                  <a:srgbClr val="F5F9FF"/>
                </a:solidFill>
                <a:latin typeface="Aptos"/>
              </a:rPr>
              <a:t>projects</a:t>
            </a:r>
            <a:r>
              <a:rPr lang="tr-TR" sz="1600" dirty="0">
                <a:solidFill>
                  <a:srgbClr val="F5F9FF"/>
                </a:solidFill>
                <a:latin typeface="Aptos"/>
              </a:rPr>
              <a:t>.</a:t>
            </a:r>
          </a:p>
        </p:txBody>
      </p:sp>
      <p:sp>
        <p:nvSpPr>
          <p:cNvPr id="19" name="Rounded Rectangle 18">
            <a:extLst>
              <a:ext uri="{FF2B5EF4-FFF2-40B4-BE49-F238E27FC236}">
                <a16:creationId xmlns:a16="http://schemas.microsoft.com/office/drawing/2014/main" id="{6523F5EC-7B73-5985-DA05-C75192568470}"/>
              </a:ext>
            </a:extLst>
          </p:cNvPr>
          <p:cNvSpPr/>
          <p:nvPr/>
        </p:nvSpPr>
        <p:spPr>
          <a:xfrm>
            <a:off x="6187683" y="3535250"/>
            <a:ext cx="5499074" cy="1267713"/>
          </a:xfrm>
          <a:prstGeom prst="roundRect">
            <a:avLst/>
          </a:prstGeom>
          <a:solidFill>
            <a:srgbClr val="2B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08648D1-3686-A4BF-32FE-FF62FF650940}"/>
              </a:ext>
            </a:extLst>
          </p:cNvPr>
          <p:cNvSpPr txBox="1"/>
          <p:nvPr/>
        </p:nvSpPr>
        <p:spPr>
          <a:xfrm>
            <a:off x="6345936" y="3609301"/>
            <a:ext cx="5029200" cy="295466"/>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1500" b="1" dirty="0">
                <a:solidFill>
                  <a:srgbClr val="45EFEB"/>
                </a:solidFill>
                <a:latin typeface="Aptos"/>
              </a:rPr>
              <a:t>OVERDEPENDENCE</a:t>
            </a:r>
          </a:p>
        </p:txBody>
      </p:sp>
      <p:sp>
        <p:nvSpPr>
          <p:cNvPr id="21" name="TextBox 20">
            <a:extLst>
              <a:ext uri="{FF2B5EF4-FFF2-40B4-BE49-F238E27FC236}">
                <a16:creationId xmlns:a16="http://schemas.microsoft.com/office/drawing/2014/main" id="{E86CD924-356F-13DB-9A75-3C067381157B}"/>
              </a:ext>
            </a:extLst>
          </p:cNvPr>
          <p:cNvSpPr txBox="1"/>
          <p:nvPr/>
        </p:nvSpPr>
        <p:spPr>
          <a:xfrm>
            <a:off x="6345936" y="3878686"/>
            <a:ext cx="5029200" cy="557076"/>
          </a:xfrm>
          <a:prstGeom prst="rect">
            <a:avLst/>
          </a:prstGeom>
          <a:noFill/>
        </p:spPr>
        <p:txBody>
          <a:bodyPr wrap="square" lIns="27432" tIns="18288" rIns="27432">
            <a:spAutoFit/>
          </a:bodyPr>
          <a:lstStyle/>
          <a:p>
            <a:pPr>
              <a:spcAft>
                <a:spcPts val="700"/>
              </a:spcAft>
              <a:defRPr sz="1600" b="0">
                <a:solidFill>
                  <a:srgbClr val="F5F9FF"/>
                </a:solidFill>
                <a:latin typeface="Aptos"/>
              </a:defRPr>
            </a:pPr>
            <a:r>
              <a:rPr lang="tr-TR" sz="1600" dirty="0" err="1">
                <a:solidFill>
                  <a:srgbClr val="F5F9FF"/>
                </a:solidFill>
                <a:latin typeface="Aptos"/>
              </a:rPr>
              <a:t>Relying</a:t>
            </a:r>
            <a:r>
              <a:rPr lang="tr-TR" sz="1600" dirty="0">
                <a:solidFill>
                  <a:srgbClr val="F5F9FF"/>
                </a:solidFill>
                <a:latin typeface="Aptos"/>
              </a:rPr>
              <a:t> </a:t>
            </a:r>
            <a:r>
              <a:rPr lang="tr-TR" sz="1600" dirty="0" err="1">
                <a:solidFill>
                  <a:srgbClr val="F5F9FF"/>
                </a:solidFill>
                <a:latin typeface="Aptos"/>
              </a:rPr>
              <a:t>too</a:t>
            </a:r>
            <a:r>
              <a:rPr lang="tr-TR" sz="1600" dirty="0">
                <a:solidFill>
                  <a:srgbClr val="F5F9FF"/>
                </a:solidFill>
                <a:latin typeface="Aptos"/>
              </a:rPr>
              <a:t> </a:t>
            </a:r>
            <a:r>
              <a:rPr lang="tr-TR" sz="1600" dirty="0" err="1">
                <a:solidFill>
                  <a:srgbClr val="F5F9FF"/>
                </a:solidFill>
                <a:latin typeface="Aptos"/>
              </a:rPr>
              <a:t>much</a:t>
            </a:r>
            <a:r>
              <a:rPr lang="tr-TR" sz="1600" dirty="0">
                <a:solidFill>
                  <a:srgbClr val="F5F9FF"/>
                </a:solidFill>
                <a:latin typeface="Aptos"/>
              </a:rPr>
              <a:t> on AI can </a:t>
            </a:r>
            <a:r>
              <a:rPr lang="tr-TR" sz="1600" dirty="0" err="1">
                <a:solidFill>
                  <a:srgbClr val="F5F9FF"/>
                </a:solidFill>
                <a:latin typeface="Aptos"/>
              </a:rPr>
              <a:t>reduce</a:t>
            </a:r>
            <a:r>
              <a:rPr lang="tr-TR" sz="1600" dirty="0">
                <a:solidFill>
                  <a:srgbClr val="F5F9FF"/>
                </a:solidFill>
                <a:latin typeface="Aptos"/>
              </a:rPr>
              <a:t> </a:t>
            </a:r>
            <a:r>
              <a:rPr lang="tr-TR" sz="1600" dirty="0" err="1">
                <a:solidFill>
                  <a:srgbClr val="F5F9FF"/>
                </a:solidFill>
                <a:latin typeface="Aptos"/>
              </a:rPr>
              <a:t>independent</a:t>
            </a:r>
            <a:r>
              <a:rPr lang="tr-TR" sz="1600" dirty="0">
                <a:solidFill>
                  <a:srgbClr val="F5F9FF"/>
                </a:solidFill>
                <a:latin typeface="Aptos"/>
              </a:rPr>
              <a:t> problem-</a:t>
            </a:r>
            <a:r>
              <a:rPr lang="tr-TR" sz="1600" dirty="0" err="1">
                <a:solidFill>
                  <a:srgbClr val="F5F9FF"/>
                </a:solidFill>
                <a:latin typeface="Aptos"/>
              </a:rPr>
              <a:t>solving</a:t>
            </a:r>
            <a:r>
              <a:rPr lang="tr-TR" sz="1600" dirty="0">
                <a:solidFill>
                  <a:srgbClr val="F5F9FF"/>
                </a:solidFill>
                <a:latin typeface="Aptos"/>
              </a:rPr>
              <a:t> </a:t>
            </a:r>
            <a:r>
              <a:rPr lang="tr-TR" sz="1600" dirty="0" err="1">
                <a:solidFill>
                  <a:srgbClr val="F5F9FF"/>
                </a:solidFill>
                <a:latin typeface="Aptos"/>
              </a:rPr>
              <a:t>practice</a:t>
            </a:r>
            <a:r>
              <a:rPr lang="tr-TR" sz="1600" dirty="0">
                <a:solidFill>
                  <a:srgbClr val="F5F9FF"/>
                </a:solidFill>
                <a:latin typeface="Aptos"/>
              </a:rPr>
              <a:t>.</a:t>
            </a:r>
          </a:p>
        </p:txBody>
      </p:sp>
      <p:sp>
        <p:nvSpPr>
          <p:cNvPr id="22" name="TextBox 21">
            <a:extLst>
              <a:ext uri="{FF2B5EF4-FFF2-40B4-BE49-F238E27FC236}">
                <a16:creationId xmlns:a16="http://schemas.microsoft.com/office/drawing/2014/main" id="{6B9FAF8C-71BD-37AA-C33F-D4CE989989BD}"/>
              </a:ext>
            </a:extLst>
          </p:cNvPr>
          <p:cNvSpPr txBox="1"/>
          <p:nvPr/>
        </p:nvSpPr>
        <p:spPr>
          <a:xfrm>
            <a:off x="585216" y="6360473"/>
            <a:ext cx="10789920" cy="326243"/>
          </a:xfrm>
          <a:prstGeom prst="rect">
            <a:avLst/>
          </a:prstGeom>
          <a:noFill/>
        </p:spPr>
        <p:txBody>
          <a:bodyPr wrap="square" lIns="27432" tIns="18288" rIns="27432">
            <a:spAutoFit/>
          </a:bodyPr>
          <a:lstStyle/>
          <a:p>
            <a:pPr>
              <a:spcAft>
                <a:spcPts val="700"/>
              </a:spcAft>
              <a:defRPr sz="1700" b="0">
                <a:solidFill>
                  <a:srgbClr val="F5F9FF"/>
                </a:solidFill>
                <a:latin typeface="Aptos"/>
              </a:defRPr>
            </a:pPr>
            <a:r>
              <a:rPr lang="en-US" sz="1700" dirty="0">
                <a:solidFill>
                  <a:schemeClr val="bg1">
                    <a:lumMod val="75000"/>
                  </a:schemeClr>
                </a:solidFill>
                <a:latin typeface="Aptos"/>
              </a:rPr>
              <a:t>SOURCE: Stack Overflow Developer Survey 2025 — survey.stackoverflow.co/2025/a</a:t>
            </a:r>
            <a:r>
              <a:rPr lang="tr-TR" sz="1700" dirty="0">
                <a:solidFill>
                  <a:schemeClr val="bg1">
                    <a:lumMod val="75000"/>
                  </a:schemeClr>
                </a:solidFill>
                <a:latin typeface="Aptos"/>
              </a:rPr>
              <a:t>i</a:t>
            </a:r>
            <a:endParaRPr lang="tr-TR" dirty="0">
              <a:solidFill>
                <a:schemeClr val="bg1">
                  <a:lumMod val="75000"/>
                </a:schemeClr>
              </a:solidFill>
            </a:endParaRPr>
          </a:p>
        </p:txBody>
      </p:sp>
      <p:sp>
        <p:nvSpPr>
          <p:cNvPr id="24" name="TextBox 19">
            <a:extLst>
              <a:ext uri="{FF2B5EF4-FFF2-40B4-BE49-F238E27FC236}">
                <a16:creationId xmlns:a16="http://schemas.microsoft.com/office/drawing/2014/main" id="{30A72B17-A569-8E27-917E-8058F00E1F71}"/>
              </a:ext>
            </a:extLst>
          </p:cNvPr>
          <p:cNvSpPr txBox="1"/>
          <p:nvPr/>
        </p:nvSpPr>
        <p:spPr>
          <a:xfrm>
            <a:off x="640080" y="2185639"/>
            <a:ext cx="5029200" cy="295466"/>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1500" b="1" dirty="0">
                <a:solidFill>
                  <a:srgbClr val="45EFEB"/>
                </a:solidFill>
                <a:latin typeface="Aptos"/>
              </a:rPr>
              <a:t>INCORRECT CODE</a:t>
            </a:r>
            <a:endParaRPr dirty="0"/>
          </a:p>
        </p:txBody>
      </p:sp>
      <p:sp>
        <p:nvSpPr>
          <p:cNvPr id="26" name="TextBox 19">
            <a:extLst>
              <a:ext uri="{FF2B5EF4-FFF2-40B4-BE49-F238E27FC236}">
                <a16:creationId xmlns:a16="http://schemas.microsoft.com/office/drawing/2014/main" id="{B1EFA53E-B7E1-000B-7FBB-E5268F57B521}"/>
              </a:ext>
            </a:extLst>
          </p:cNvPr>
          <p:cNvSpPr txBox="1"/>
          <p:nvPr/>
        </p:nvSpPr>
        <p:spPr>
          <a:xfrm>
            <a:off x="6394463" y="2177816"/>
            <a:ext cx="5029200" cy="295466"/>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1500" b="1" dirty="0">
                <a:solidFill>
                  <a:srgbClr val="45EFEB"/>
                </a:solidFill>
                <a:latin typeface="Aptos"/>
              </a:rPr>
              <a:t>SECURITY RISKS</a:t>
            </a:r>
          </a:p>
        </p:txBody>
      </p:sp>
      <p:sp>
        <p:nvSpPr>
          <p:cNvPr id="11" name="Rounded Rectangle 15">
            <a:extLst>
              <a:ext uri="{FF2B5EF4-FFF2-40B4-BE49-F238E27FC236}">
                <a16:creationId xmlns:a16="http://schemas.microsoft.com/office/drawing/2014/main" id="{F969FA0E-E24A-58F3-5D59-843BDA4E74AA}"/>
              </a:ext>
            </a:extLst>
          </p:cNvPr>
          <p:cNvSpPr/>
          <p:nvPr/>
        </p:nvSpPr>
        <p:spPr>
          <a:xfrm>
            <a:off x="548638" y="4921476"/>
            <a:ext cx="11109961" cy="1267713"/>
          </a:xfrm>
          <a:prstGeom prst="roundRect">
            <a:avLst/>
          </a:prstGeom>
          <a:solidFill>
            <a:srgbClr val="2B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16">
            <a:extLst>
              <a:ext uri="{FF2B5EF4-FFF2-40B4-BE49-F238E27FC236}">
                <a16:creationId xmlns:a16="http://schemas.microsoft.com/office/drawing/2014/main" id="{443F86E3-98F6-4ABB-3F3F-49980EC5D714}"/>
              </a:ext>
            </a:extLst>
          </p:cNvPr>
          <p:cNvSpPr txBox="1"/>
          <p:nvPr/>
        </p:nvSpPr>
        <p:spPr>
          <a:xfrm>
            <a:off x="658368" y="5195211"/>
            <a:ext cx="1030544" cy="680186"/>
          </a:xfrm>
          <a:prstGeom prst="rect">
            <a:avLst/>
          </a:prstGeom>
          <a:noFill/>
        </p:spPr>
        <p:txBody>
          <a:bodyPr wrap="square" lIns="27432" tIns="18288" rIns="27432">
            <a:spAutoFit/>
          </a:bodyPr>
          <a:lstStyle/>
          <a:p>
            <a:pPr>
              <a:spcAft>
                <a:spcPts val="700"/>
              </a:spcAft>
              <a:defRPr sz="1500" b="1">
                <a:solidFill>
                  <a:srgbClr val="45EFEB"/>
                </a:solidFill>
                <a:latin typeface="Aptos"/>
              </a:defRPr>
            </a:pPr>
            <a:r>
              <a:rPr lang="tr-TR" sz="4000" b="1" dirty="0">
                <a:solidFill>
                  <a:srgbClr val="45EFEB"/>
                </a:solidFill>
                <a:latin typeface="Aptos"/>
              </a:rPr>
              <a:t>46%</a:t>
            </a:r>
            <a:endParaRPr lang="tr-TR" sz="1500" b="1" dirty="0">
              <a:solidFill>
                <a:srgbClr val="45EFEB"/>
              </a:solidFill>
              <a:latin typeface="Aptos"/>
            </a:endParaRPr>
          </a:p>
        </p:txBody>
      </p:sp>
      <p:sp>
        <p:nvSpPr>
          <p:cNvPr id="27" name="TextBox 17">
            <a:extLst>
              <a:ext uri="{FF2B5EF4-FFF2-40B4-BE49-F238E27FC236}">
                <a16:creationId xmlns:a16="http://schemas.microsoft.com/office/drawing/2014/main" id="{9242566C-070D-08D0-8CEC-6D34A119E58D}"/>
              </a:ext>
            </a:extLst>
          </p:cNvPr>
          <p:cNvSpPr txBox="1"/>
          <p:nvPr/>
        </p:nvSpPr>
        <p:spPr>
          <a:xfrm>
            <a:off x="1728299" y="5221892"/>
            <a:ext cx="9958458" cy="680186"/>
          </a:xfrm>
          <a:prstGeom prst="rect">
            <a:avLst/>
          </a:prstGeom>
          <a:noFill/>
        </p:spPr>
        <p:txBody>
          <a:bodyPr wrap="square" lIns="27432" tIns="18288" rIns="27432">
            <a:spAutoFit/>
          </a:bodyPr>
          <a:lstStyle/>
          <a:p>
            <a:pPr>
              <a:spcAft>
                <a:spcPts val="700"/>
              </a:spcAft>
              <a:defRPr sz="1600" b="0">
                <a:solidFill>
                  <a:srgbClr val="F5F9FF"/>
                </a:solidFill>
                <a:latin typeface="Aptos"/>
              </a:defRPr>
            </a:pPr>
            <a:r>
              <a:rPr lang="tr-TR" sz="2000" dirty="0">
                <a:solidFill>
                  <a:srgbClr val="F5F9FF"/>
                </a:solidFill>
                <a:latin typeface="Aptos"/>
              </a:rPr>
              <a:t>of </a:t>
            </a:r>
            <a:r>
              <a:rPr lang="tr-TR" sz="2000" dirty="0" err="1">
                <a:solidFill>
                  <a:srgbClr val="F5F9FF"/>
                </a:solidFill>
                <a:latin typeface="Aptos"/>
              </a:rPr>
              <a:t>respondents</a:t>
            </a:r>
            <a:r>
              <a:rPr lang="tr-TR" sz="2000" dirty="0">
                <a:solidFill>
                  <a:srgbClr val="F5F9FF"/>
                </a:solidFill>
                <a:latin typeface="Aptos"/>
              </a:rPr>
              <a:t> </a:t>
            </a:r>
            <a:r>
              <a:rPr lang="tr-TR" sz="2000" dirty="0" err="1">
                <a:solidFill>
                  <a:srgbClr val="F5F9FF"/>
                </a:solidFill>
                <a:latin typeface="Aptos"/>
              </a:rPr>
              <a:t>distrust</a:t>
            </a:r>
            <a:r>
              <a:rPr lang="tr-TR" sz="2000" dirty="0">
                <a:solidFill>
                  <a:srgbClr val="F5F9FF"/>
                </a:solidFill>
                <a:latin typeface="Aptos"/>
              </a:rPr>
              <a:t> </a:t>
            </a:r>
            <a:r>
              <a:rPr lang="tr-TR" sz="2000" dirty="0" err="1">
                <a:solidFill>
                  <a:srgbClr val="F5F9FF"/>
                </a:solidFill>
                <a:latin typeface="Aptos"/>
              </a:rPr>
              <a:t>the</a:t>
            </a:r>
            <a:r>
              <a:rPr lang="tr-TR" sz="2000" dirty="0">
                <a:solidFill>
                  <a:srgbClr val="F5F9FF"/>
                </a:solidFill>
                <a:latin typeface="Aptos"/>
              </a:rPr>
              <a:t> </a:t>
            </a:r>
            <a:r>
              <a:rPr lang="tr-TR" sz="2000" dirty="0" err="1">
                <a:solidFill>
                  <a:srgbClr val="F5F9FF"/>
                </a:solidFill>
                <a:latin typeface="Aptos"/>
              </a:rPr>
              <a:t>accuracy</a:t>
            </a:r>
            <a:r>
              <a:rPr lang="tr-TR" sz="2000" dirty="0">
                <a:solidFill>
                  <a:srgbClr val="F5F9FF"/>
                </a:solidFill>
                <a:latin typeface="Aptos"/>
              </a:rPr>
              <a:t> of AI-</a:t>
            </a:r>
            <a:r>
              <a:rPr lang="tr-TR" sz="2000" dirty="0" err="1">
                <a:solidFill>
                  <a:srgbClr val="F5F9FF"/>
                </a:solidFill>
                <a:latin typeface="Aptos"/>
              </a:rPr>
              <a:t>generated</a:t>
            </a:r>
            <a:r>
              <a:rPr lang="tr-TR" sz="2000" dirty="0">
                <a:solidFill>
                  <a:srgbClr val="F5F9FF"/>
                </a:solidFill>
                <a:latin typeface="Aptos"/>
              </a:rPr>
              <a:t> </a:t>
            </a:r>
            <a:r>
              <a:rPr lang="tr-TR" sz="2000" dirty="0" err="1">
                <a:solidFill>
                  <a:srgbClr val="F5F9FF"/>
                </a:solidFill>
                <a:latin typeface="Aptos"/>
              </a:rPr>
              <a:t>results</a:t>
            </a:r>
            <a:r>
              <a:rPr lang="tr-TR" sz="2000" dirty="0">
                <a:solidFill>
                  <a:srgbClr val="F5F9FF"/>
                </a:solidFill>
                <a:latin typeface="Aptos"/>
              </a:rPr>
              <a:t> (</a:t>
            </a:r>
            <a:r>
              <a:rPr lang="tr-TR" sz="2000" dirty="0" err="1">
                <a:solidFill>
                  <a:srgbClr val="F5F9FF"/>
                </a:solidFill>
                <a:latin typeface="Aptos"/>
              </a:rPr>
              <a:t>Stack</a:t>
            </a:r>
            <a:r>
              <a:rPr lang="tr-TR" sz="2000" dirty="0">
                <a:solidFill>
                  <a:srgbClr val="F5F9FF"/>
                </a:solidFill>
                <a:latin typeface="Aptos"/>
              </a:rPr>
              <a:t> </a:t>
            </a:r>
            <a:r>
              <a:rPr lang="tr-TR" sz="2000" dirty="0" err="1">
                <a:solidFill>
                  <a:srgbClr val="F5F9FF"/>
                </a:solidFill>
                <a:latin typeface="Aptos"/>
              </a:rPr>
              <a:t>Overflow</a:t>
            </a:r>
            <a:r>
              <a:rPr lang="tr-TR" sz="2000" dirty="0">
                <a:solidFill>
                  <a:srgbClr val="F5F9FF"/>
                </a:solidFill>
                <a:latin typeface="Aptos"/>
              </a:rPr>
              <a:t> Developer </a:t>
            </a:r>
            <a:r>
              <a:rPr lang="tr-TR" sz="2000" dirty="0" err="1">
                <a:solidFill>
                  <a:srgbClr val="F5F9FF"/>
                </a:solidFill>
                <a:latin typeface="Aptos"/>
              </a:rPr>
              <a:t>Survey</a:t>
            </a:r>
            <a:r>
              <a:rPr lang="tr-TR" sz="2000" dirty="0">
                <a:solidFill>
                  <a:srgbClr val="F5F9FF"/>
                </a:solidFill>
                <a:latin typeface="Aptos"/>
              </a:rPr>
              <a:t> 2025).</a:t>
            </a:r>
          </a:p>
        </p:txBody>
      </p:sp>
    </p:spTree>
    <p:extLst>
      <p:ext uri="{BB962C8B-B14F-4D97-AF65-F5344CB8AC3E}">
        <p14:creationId xmlns:p14="http://schemas.microsoft.com/office/powerpoint/2010/main" val="3320981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070F20"/>
        </a:solidFill>
        <a:effectLst/>
      </p:bgPr>
    </p:bg>
    <p:spTree>
      <p:nvGrpSpPr>
        <p:cNvPr id="1" name=""/>
        <p:cNvGrpSpPr/>
        <p:nvPr/>
      </p:nvGrpSpPr>
      <p:grpSpPr>
        <a:xfrm>
          <a:off x="0" y="0"/>
          <a:ext cx="0" cy="0"/>
          <a:chOff x="0" y="0"/>
          <a:chExt cx="0" cy="0"/>
        </a:xfrm>
      </p:grpSpPr>
      <p:sp>
        <p:nvSpPr>
          <p:cNvPr id="11" name="Shape 9"/>
          <p:cNvSpPr/>
          <p:nvPr/>
        </p:nvSpPr>
        <p:spPr>
          <a:xfrm>
            <a:off x="612648" y="502920"/>
            <a:ext cx="77724" cy="246888"/>
          </a:xfrm>
          <a:prstGeom prst="rect">
            <a:avLst/>
          </a:prstGeom>
          <a:solidFill>
            <a:srgbClr val="2BD5D0"/>
          </a:solidFill>
          <a:ln w="12700">
            <a:solidFill>
              <a:srgbClr val="2BD5D0">
                <a:alpha val="0"/>
              </a:srgbClr>
            </a:solidFill>
            <a:prstDash val="solid"/>
          </a:ln>
        </p:spPr>
        <p:txBody>
          <a:bodyPr/>
          <a:lstStyle/>
          <a:p>
            <a:endParaRPr lang="tr-TR"/>
          </a:p>
        </p:txBody>
      </p:sp>
      <p:sp>
        <p:nvSpPr>
          <p:cNvPr id="12" name="Text 10"/>
          <p:cNvSpPr/>
          <p:nvPr/>
        </p:nvSpPr>
        <p:spPr>
          <a:xfrm>
            <a:off x="822960" y="502920"/>
            <a:ext cx="6400800" cy="274320"/>
          </a:xfrm>
          <a:prstGeom prst="rect">
            <a:avLst/>
          </a:prstGeom>
          <a:noFill/>
          <a:ln/>
        </p:spPr>
        <p:txBody>
          <a:bodyPr wrap="square" lIns="0" tIns="0" rIns="0" bIns="0" rtlCol="0" anchor="ctr"/>
          <a:lstStyle/>
          <a:p>
            <a:pPr marL="0" indent="0">
              <a:buNone/>
            </a:pPr>
            <a:r>
              <a:rPr lang="en-US" sz="1300" b="1" kern="0" spc="100">
                <a:solidFill>
                  <a:srgbClr val="76D7E9"/>
                </a:solidFill>
                <a:latin typeface="Aptos" pitchFamily="34" charset="0"/>
                <a:ea typeface="Aptos" pitchFamily="34" charset="-122"/>
                <a:cs typeface="Aptos" pitchFamily="34" charset="-120"/>
              </a:rPr>
              <a:t>CEP146  /  GROUP PRESENTATION 01</a:t>
            </a:r>
            <a:endParaRPr lang="en-US" sz="1300"/>
          </a:p>
        </p:txBody>
      </p:sp>
      <p:sp>
        <p:nvSpPr>
          <p:cNvPr id="14" name="Text 12"/>
          <p:cNvSpPr/>
          <p:nvPr/>
        </p:nvSpPr>
        <p:spPr>
          <a:xfrm>
            <a:off x="612648" y="732843"/>
            <a:ext cx="9144000" cy="566928"/>
          </a:xfrm>
          <a:prstGeom prst="rect">
            <a:avLst/>
          </a:prstGeom>
          <a:noFill/>
          <a:ln/>
        </p:spPr>
        <p:txBody>
          <a:bodyPr wrap="square" lIns="0" tIns="0" rIns="0" bIns="0" rtlCol="0" anchor="ctr"/>
          <a:lstStyle/>
          <a:p>
            <a:pPr marL="0" indent="0">
              <a:buNone/>
            </a:pPr>
            <a:r>
              <a:rPr lang="en-US" sz="3400" b="1" dirty="0">
                <a:solidFill>
                  <a:srgbClr val="FFFFFF"/>
                </a:solidFill>
                <a:latin typeface="Aptos" pitchFamily="34" charset="0"/>
                <a:ea typeface="Aptos" pitchFamily="34" charset="-122"/>
                <a:cs typeface="Aptos" pitchFamily="34" charset="-120"/>
              </a:rPr>
              <a:t>AI-GENERATED CODE EXAMPL</a:t>
            </a:r>
            <a:r>
              <a:rPr lang="tr-TR" sz="3400" b="1" dirty="0">
                <a:solidFill>
                  <a:srgbClr val="FFFFFF"/>
                </a:solidFill>
                <a:latin typeface="Aptos" pitchFamily="34" charset="0"/>
                <a:ea typeface="Aptos" pitchFamily="34" charset="-122"/>
                <a:cs typeface="Aptos" pitchFamily="34" charset="-120"/>
              </a:rPr>
              <a:t>E</a:t>
            </a:r>
            <a:endParaRPr lang="en-US" sz="3400" dirty="0"/>
          </a:p>
        </p:txBody>
      </p:sp>
      <p:sp>
        <p:nvSpPr>
          <p:cNvPr id="15" name="Shape 13"/>
          <p:cNvSpPr/>
          <p:nvPr/>
        </p:nvSpPr>
        <p:spPr>
          <a:xfrm>
            <a:off x="585216" y="1372923"/>
            <a:ext cx="621792" cy="50292"/>
          </a:xfrm>
          <a:prstGeom prst="rect">
            <a:avLst/>
          </a:prstGeom>
          <a:solidFill>
            <a:srgbClr val="2BD5D0"/>
          </a:solidFill>
          <a:ln w="12700">
            <a:solidFill>
              <a:srgbClr val="2BD5D0">
                <a:alpha val="0"/>
              </a:srgbClr>
            </a:solidFill>
            <a:prstDash val="solid"/>
          </a:ln>
        </p:spPr>
        <p:txBody>
          <a:bodyPr/>
          <a:lstStyle/>
          <a:p>
            <a:endParaRPr lang="tr-TR"/>
          </a:p>
        </p:txBody>
      </p:sp>
      <p:sp>
        <p:nvSpPr>
          <p:cNvPr id="16" name="Text 14"/>
          <p:cNvSpPr/>
          <p:nvPr/>
        </p:nvSpPr>
        <p:spPr>
          <a:xfrm>
            <a:off x="612648" y="1482650"/>
            <a:ext cx="10881360" cy="365760"/>
          </a:xfrm>
          <a:prstGeom prst="rect">
            <a:avLst/>
          </a:prstGeom>
          <a:noFill/>
          <a:ln/>
        </p:spPr>
        <p:txBody>
          <a:bodyPr wrap="square" lIns="0" tIns="0" rIns="0" bIns="0" rtlCol="0" anchor="ctr"/>
          <a:lstStyle/>
          <a:p>
            <a:pPr marL="0" indent="0">
              <a:buNone/>
            </a:pPr>
            <a:r>
              <a:rPr lang="en-US" sz="2000" dirty="0">
                <a:solidFill>
                  <a:srgbClr val="B8CBDD"/>
                </a:solidFill>
                <a:latin typeface="Aptos" pitchFamily="34" charset="0"/>
                <a:ea typeface="Aptos" pitchFamily="34" charset="-122"/>
                <a:cs typeface="Aptos" pitchFamily="34" charset="-120"/>
              </a:rPr>
              <a:t>Prompt: "Write a C program that checks if a number is even or od</a:t>
            </a:r>
            <a:r>
              <a:rPr lang="tr-TR" sz="2000" dirty="0">
                <a:solidFill>
                  <a:srgbClr val="B8CBDD"/>
                </a:solidFill>
                <a:latin typeface="Aptos" pitchFamily="34" charset="0"/>
                <a:ea typeface="Aptos" pitchFamily="34" charset="-122"/>
                <a:cs typeface="Aptos" pitchFamily="34" charset="-120"/>
              </a:rPr>
              <a:t>d</a:t>
            </a:r>
            <a:r>
              <a:rPr lang="en-US" sz="2000" dirty="0">
                <a:solidFill>
                  <a:srgbClr val="B8CBDD"/>
                </a:solidFill>
                <a:latin typeface="Aptos" pitchFamily="34" charset="0"/>
                <a:ea typeface="Aptos" pitchFamily="34" charset="-122"/>
                <a:cs typeface="Aptos" pitchFamily="34" charset="-120"/>
              </a:rPr>
              <a:t>."</a:t>
            </a:r>
            <a:endParaRPr lang="en-US" sz="2000" dirty="0"/>
          </a:p>
        </p:txBody>
      </p:sp>
      <p:sp>
        <p:nvSpPr>
          <p:cNvPr id="17" name="Shape 15"/>
          <p:cNvSpPr/>
          <p:nvPr/>
        </p:nvSpPr>
        <p:spPr>
          <a:xfrm>
            <a:off x="465221" y="1843839"/>
            <a:ext cx="7315200" cy="4511242"/>
          </a:xfrm>
          <a:prstGeom prst="roundRect">
            <a:avLst>
              <a:gd name="adj" fmla="val 10891"/>
            </a:avLst>
          </a:prstGeom>
          <a:solidFill>
            <a:srgbClr val="152743"/>
          </a:solidFill>
          <a:ln w="12700">
            <a:solidFill>
              <a:srgbClr val="152B46">
                <a:alpha val="0"/>
              </a:srgbClr>
            </a:solidFill>
            <a:prstDash val="solid"/>
          </a:ln>
          <a:effectLst>
            <a:outerShdw blurRad="12700" dist="50800" dir="2700000" algn="bl" rotWithShape="0">
              <a:srgbClr val="000000">
                <a:alpha val="13000"/>
              </a:srgbClr>
            </a:outerShdw>
          </a:effectLst>
        </p:spPr>
        <p:txBody>
          <a:bodyPr/>
          <a:lstStyle/>
          <a:p>
            <a:endParaRPr lang="tr-TR"/>
          </a:p>
        </p:txBody>
      </p:sp>
      <p:sp>
        <p:nvSpPr>
          <p:cNvPr id="19" name="Text 17"/>
          <p:cNvSpPr/>
          <p:nvPr/>
        </p:nvSpPr>
        <p:spPr>
          <a:xfrm>
            <a:off x="941832" y="3767328"/>
            <a:ext cx="365760" cy="182880"/>
          </a:xfrm>
          <a:prstGeom prst="rect">
            <a:avLst/>
          </a:prstGeom>
          <a:noFill/>
          <a:ln/>
        </p:spPr>
        <p:txBody>
          <a:bodyPr wrap="square" lIns="0" tIns="0" rIns="0" bIns="0" rtlCol="0" anchor="ctr"/>
          <a:lstStyle/>
          <a:p>
            <a:pPr marL="0" indent="0">
              <a:buNone/>
            </a:pPr>
            <a:endParaRPr lang="en-US" sz="1200" dirty="0"/>
          </a:p>
        </p:txBody>
      </p:sp>
      <p:sp>
        <p:nvSpPr>
          <p:cNvPr id="20" name="Text 18"/>
          <p:cNvSpPr/>
          <p:nvPr/>
        </p:nvSpPr>
        <p:spPr>
          <a:xfrm>
            <a:off x="1426464" y="3739896"/>
            <a:ext cx="1746504" cy="320040"/>
          </a:xfrm>
          <a:prstGeom prst="rect">
            <a:avLst/>
          </a:prstGeom>
          <a:noFill/>
          <a:ln/>
        </p:spPr>
        <p:txBody>
          <a:bodyPr wrap="square" lIns="0" tIns="0" rIns="0" bIns="0" rtlCol="0" anchor="ctr"/>
          <a:lstStyle/>
          <a:p>
            <a:pPr marL="0" indent="0">
              <a:buNone/>
            </a:pPr>
            <a:endParaRPr lang="en-US" sz="1700" dirty="0"/>
          </a:p>
        </p:txBody>
      </p:sp>
      <p:sp>
        <p:nvSpPr>
          <p:cNvPr id="41" name="Text 39"/>
          <p:cNvSpPr/>
          <p:nvPr/>
        </p:nvSpPr>
        <p:spPr>
          <a:xfrm>
            <a:off x="795528" y="1890323"/>
            <a:ext cx="10515600" cy="320040"/>
          </a:xfrm>
          <a:prstGeom prst="rect">
            <a:avLst/>
          </a:prstGeom>
          <a:noFill/>
          <a:ln/>
        </p:spPr>
        <p:txBody>
          <a:bodyPr wrap="square" lIns="0" tIns="0" rIns="0" bIns="0" rtlCol="0" anchor="ctr"/>
          <a:lstStyle/>
          <a:p>
            <a:pPr marL="0" indent="0">
              <a:buNone/>
            </a:pPr>
            <a:r>
              <a:rPr lang="en-US" sz="1300" b="1" dirty="0">
                <a:solidFill>
                  <a:srgbClr val="58DCD9"/>
                </a:solidFill>
                <a:latin typeface="Aptos" pitchFamily="34" charset="0"/>
                <a:ea typeface="Aptos" pitchFamily="34" charset="-122"/>
                <a:cs typeface="Aptos" pitchFamily="34" charset="-120"/>
              </a:rPr>
              <a:t>C PROGRAMMING EXA</a:t>
            </a:r>
            <a:r>
              <a:rPr lang="tr-TR" sz="1300" b="1" dirty="0">
                <a:solidFill>
                  <a:srgbClr val="58DCD9"/>
                </a:solidFill>
                <a:latin typeface="Aptos" pitchFamily="34" charset="0"/>
                <a:ea typeface="Aptos" pitchFamily="34" charset="-122"/>
                <a:cs typeface="Aptos" pitchFamily="34" charset="-120"/>
              </a:rPr>
              <a:t>M</a:t>
            </a:r>
            <a:r>
              <a:rPr lang="en-US" sz="1300" b="1" dirty="0">
                <a:solidFill>
                  <a:srgbClr val="58DCD9"/>
                </a:solidFill>
                <a:latin typeface="Aptos" pitchFamily="34" charset="0"/>
                <a:ea typeface="Aptos" pitchFamily="34" charset="-122"/>
                <a:cs typeface="Aptos" pitchFamily="34" charset="-120"/>
              </a:rPr>
              <a:t>PLE</a:t>
            </a:r>
            <a:endParaRPr lang="en-US" sz="1300" dirty="0"/>
          </a:p>
        </p:txBody>
      </p:sp>
      <p:sp>
        <p:nvSpPr>
          <p:cNvPr id="42" name="Text 40"/>
          <p:cNvSpPr/>
          <p:nvPr/>
        </p:nvSpPr>
        <p:spPr>
          <a:xfrm>
            <a:off x="713232" y="6473952"/>
            <a:ext cx="9875520" cy="164592"/>
          </a:xfrm>
          <a:prstGeom prst="rect">
            <a:avLst/>
          </a:prstGeom>
          <a:noFill/>
          <a:ln/>
        </p:spPr>
        <p:txBody>
          <a:bodyPr wrap="square" lIns="0" tIns="0" rIns="0" bIns="0" rtlCol="0" anchor="ctr"/>
          <a:lstStyle/>
          <a:p>
            <a:pPr marL="0" indent="0">
              <a:buNone/>
            </a:pPr>
            <a:r>
              <a:rPr lang="en-US" sz="900" dirty="0">
                <a:solidFill>
                  <a:srgbClr val="879BB7"/>
                </a:solidFill>
                <a:latin typeface="Aptos" pitchFamily="34" charset="0"/>
                <a:ea typeface="Aptos" pitchFamily="34" charset="-122"/>
                <a:cs typeface="Aptos" pitchFamily="34" charset="-120"/>
              </a:rPr>
              <a:t>SOURCE: GITHUB DOCS  •  docs.github.com/</a:t>
            </a:r>
            <a:r>
              <a:rPr lang="en-US" sz="900" dirty="0" err="1">
                <a:solidFill>
                  <a:srgbClr val="879BB7"/>
                </a:solidFill>
                <a:latin typeface="Aptos" pitchFamily="34" charset="0"/>
                <a:ea typeface="Aptos" pitchFamily="34" charset="-122"/>
                <a:cs typeface="Aptos" pitchFamily="34" charset="-120"/>
              </a:rPr>
              <a:t>en</a:t>
            </a:r>
            <a:r>
              <a:rPr lang="en-US" sz="900" dirty="0">
                <a:solidFill>
                  <a:srgbClr val="879BB7"/>
                </a:solidFill>
                <a:latin typeface="Aptos" pitchFamily="34" charset="0"/>
                <a:ea typeface="Aptos" pitchFamily="34" charset="-122"/>
                <a:cs typeface="Aptos" pitchFamily="34" charset="-120"/>
              </a:rPr>
              <a:t>/copilot</a:t>
            </a:r>
            <a:endParaRPr lang="en-US" sz="900" dirty="0"/>
          </a:p>
        </p:txBody>
      </p:sp>
      <p:sp>
        <p:nvSpPr>
          <p:cNvPr id="43" name="Text 41"/>
          <p:cNvSpPr/>
          <p:nvPr/>
        </p:nvSpPr>
        <p:spPr>
          <a:xfrm>
            <a:off x="11155680" y="6455664"/>
            <a:ext cx="548640" cy="182880"/>
          </a:xfrm>
          <a:prstGeom prst="rect">
            <a:avLst/>
          </a:prstGeom>
          <a:noFill/>
          <a:ln/>
        </p:spPr>
        <p:txBody>
          <a:bodyPr wrap="square" lIns="0" tIns="0" rIns="0" bIns="0" rtlCol="0" anchor="ctr"/>
          <a:lstStyle/>
          <a:p>
            <a:pPr marL="0" indent="0">
              <a:buNone/>
            </a:pPr>
            <a:r>
              <a:rPr lang="en-US" sz="1000" dirty="0">
                <a:solidFill>
                  <a:srgbClr val="A9BCD4"/>
                </a:solidFill>
                <a:latin typeface="Aptos" pitchFamily="34" charset="0"/>
                <a:ea typeface="Aptos" pitchFamily="34" charset="-122"/>
                <a:cs typeface="Aptos" pitchFamily="34" charset="-120"/>
              </a:rPr>
              <a:t>0</a:t>
            </a:r>
            <a:r>
              <a:rPr lang="tr-TR" sz="1000" dirty="0">
                <a:solidFill>
                  <a:srgbClr val="A9BCD4"/>
                </a:solidFill>
                <a:latin typeface="Aptos" pitchFamily="34" charset="0"/>
                <a:ea typeface="Aptos" pitchFamily="34" charset="-122"/>
                <a:cs typeface="Aptos" pitchFamily="34" charset="-120"/>
              </a:rPr>
              <a:t>6</a:t>
            </a:r>
            <a:r>
              <a:rPr lang="en-US" sz="1000" dirty="0">
                <a:solidFill>
                  <a:srgbClr val="A9BCD4"/>
                </a:solidFill>
                <a:latin typeface="Aptos" pitchFamily="34" charset="0"/>
                <a:ea typeface="Aptos" pitchFamily="34" charset="-122"/>
                <a:cs typeface="Aptos" pitchFamily="34" charset="-120"/>
              </a:rPr>
              <a:t>/ 09</a:t>
            </a:r>
            <a:endParaRPr lang="en-US" sz="1000" dirty="0"/>
          </a:p>
        </p:txBody>
      </p:sp>
      <p:sp>
        <p:nvSpPr>
          <p:cNvPr id="5" name="Text 14">
            <a:extLst>
              <a:ext uri="{FF2B5EF4-FFF2-40B4-BE49-F238E27FC236}">
                <a16:creationId xmlns:a16="http://schemas.microsoft.com/office/drawing/2014/main" id="{DF8C863E-DF7E-11FE-7268-CC591ED7DF59}"/>
              </a:ext>
            </a:extLst>
          </p:cNvPr>
          <p:cNvSpPr/>
          <p:nvPr/>
        </p:nvSpPr>
        <p:spPr>
          <a:xfrm>
            <a:off x="612648" y="2269033"/>
            <a:ext cx="6750678" cy="3106317"/>
          </a:xfrm>
          <a:prstGeom prst="rect">
            <a:avLst/>
          </a:prstGeom>
          <a:noFill/>
          <a:ln/>
        </p:spPr>
        <p:txBody>
          <a:bodyPr wrap="square" lIns="0" tIns="0" rIns="0" bIns="0" rtlCol="0" anchor="ctr"/>
          <a:lstStyle/>
          <a:p>
            <a:pPr marL="0" indent="0">
              <a:buNone/>
            </a:pPr>
            <a:endParaRPr lang="en-US" sz="2000" dirty="0"/>
          </a:p>
        </p:txBody>
      </p:sp>
      <p:sp>
        <p:nvSpPr>
          <p:cNvPr id="9" name="Text 14">
            <a:extLst>
              <a:ext uri="{FF2B5EF4-FFF2-40B4-BE49-F238E27FC236}">
                <a16:creationId xmlns:a16="http://schemas.microsoft.com/office/drawing/2014/main" id="{5467F635-8702-7CF7-CE7E-335D8EC6A80F}"/>
              </a:ext>
            </a:extLst>
          </p:cNvPr>
          <p:cNvSpPr/>
          <p:nvPr/>
        </p:nvSpPr>
        <p:spPr>
          <a:xfrm>
            <a:off x="786865" y="1085548"/>
            <a:ext cx="7636042" cy="6027823"/>
          </a:xfrm>
          <a:prstGeom prst="rect">
            <a:avLst/>
          </a:prstGeom>
          <a:noFill/>
          <a:ln/>
        </p:spPr>
        <p:txBody>
          <a:bodyPr wrap="square" lIns="0" tIns="0" rIns="0" bIns="0" rtlCol="0" anchor="ctr"/>
          <a:lstStyle/>
          <a:p>
            <a:r>
              <a:rPr lang="en-US" sz="1600" dirty="0">
                <a:solidFill>
                  <a:schemeClr val="bg1">
                    <a:lumMod val="75000"/>
                  </a:schemeClr>
                </a:solidFill>
              </a:rPr>
              <a:t>#include &lt;</a:t>
            </a:r>
            <a:r>
              <a:rPr lang="en-US" sz="1600" dirty="0" err="1">
                <a:solidFill>
                  <a:schemeClr val="bg1">
                    <a:lumMod val="75000"/>
                  </a:schemeClr>
                </a:solidFill>
              </a:rPr>
              <a:t>stdio.h</a:t>
            </a:r>
            <a:r>
              <a:rPr lang="en-US" sz="1600" dirty="0">
                <a:solidFill>
                  <a:schemeClr val="bg1">
                    <a:lumMod val="75000"/>
                  </a:schemeClr>
                </a:solidFill>
              </a:rPr>
              <a:t>&gt;</a:t>
            </a:r>
          </a:p>
          <a:p>
            <a:endParaRPr lang="en-US" sz="1600" dirty="0">
              <a:solidFill>
                <a:schemeClr val="bg1">
                  <a:lumMod val="75000"/>
                </a:schemeClr>
              </a:solidFill>
            </a:endParaRPr>
          </a:p>
          <a:p>
            <a:r>
              <a:rPr lang="en-US" sz="1600" dirty="0">
                <a:solidFill>
                  <a:schemeClr val="bg1">
                    <a:lumMod val="75000"/>
                  </a:schemeClr>
                </a:solidFill>
              </a:rPr>
              <a:t>int main(void) {</a:t>
            </a:r>
          </a:p>
          <a:p>
            <a:r>
              <a:rPr lang="en-US" sz="1600" dirty="0">
                <a:solidFill>
                  <a:schemeClr val="bg1">
                    <a:lumMod val="75000"/>
                  </a:schemeClr>
                </a:solidFill>
              </a:rPr>
              <a:t>    int number;</a:t>
            </a:r>
          </a:p>
          <a:p>
            <a:endParaRPr lang="en-US" sz="1600" dirty="0">
              <a:solidFill>
                <a:schemeClr val="bg1">
                  <a:lumMod val="75000"/>
                </a:schemeClr>
              </a:solidFill>
            </a:endParaRPr>
          </a:p>
          <a:p>
            <a:r>
              <a:rPr lang="en-US" sz="1600" dirty="0">
                <a:solidFill>
                  <a:schemeClr val="bg1">
                    <a:lumMod val="75000"/>
                  </a:schemeClr>
                </a:solidFill>
              </a:rPr>
              <a:t>    </a:t>
            </a:r>
            <a:r>
              <a:rPr lang="en-US" sz="1600" dirty="0" err="1">
                <a:solidFill>
                  <a:schemeClr val="bg1">
                    <a:lumMod val="75000"/>
                  </a:schemeClr>
                </a:solidFill>
              </a:rPr>
              <a:t>printf</a:t>
            </a:r>
            <a:r>
              <a:rPr lang="en-US" sz="1600" dirty="0">
                <a:solidFill>
                  <a:schemeClr val="bg1">
                    <a:lumMod val="75000"/>
                  </a:schemeClr>
                </a:solidFill>
              </a:rPr>
              <a:t>("Enter a number: ");</a:t>
            </a:r>
          </a:p>
          <a:p>
            <a:r>
              <a:rPr lang="en-US" sz="1600" dirty="0">
                <a:solidFill>
                  <a:schemeClr val="bg1">
                    <a:lumMod val="75000"/>
                  </a:schemeClr>
                </a:solidFill>
              </a:rPr>
              <a:t>    </a:t>
            </a:r>
            <a:r>
              <a:rPr lang="en-US" sz="1600" dirty="0" err="1">
                <a:solidFill>
                  <a:schemeClr val="bg1">
                    <a:lumMod val="75000"/>
                  </a:schemeClr>
                </a:solidFill>
              </a:rPr>
              <a:t>scanf</a:t>
            </a:r>
            <a:r>
              <a:rPr lang="en-US" sz="1600" dirty="0">
                <a:solidFill>
                  <a:schemeClr val="bg1">
                    <a:lumMod val="75000"/>
                  </a:schemeClr>
                </a:solidFill>
              </a:rPr>
              <a:t>("%d", &amp;number);</a:t>
            </a:r>
          </a:p>
          <a:p>
            <a:endParaRPr lang="en-US" sz="1600" dirty="0">
              <a:solidFill>
                <a:schemeClr val="bg1">
                  <a:lumMod val="75000"/>
                </a:schemeClr>
              </a:solidFill>
            </a:endParaRPr>
          </a:p>
          <a:p>
            <a:r>
              <a:rPr lang="en-US" sz="1600" dirty="0">
                <a:solidFill>
                  <a:schemeClr val="bg1">
                    <a:lumMod val="75000"/>
                  </a:schemeClr>
                </a:solidFill>
              </a:rPr>
              <a:t>    if (number % 2 == 0) {</a:t>
            </a:r>
          </a:p>
          <a:p>
            <a:r>
              <a:rPr lang="en-US" sz="1600" dirty="0">
                <a:solidFill>
                  <a:schemeClr val="bg1">
                    <a:lumMod val="75000"/>
                  </a:schemeClr>
                </a:solidFill>
              </a:rPr>
              <a:t>        </a:t>
            </a:r>
            <a:r>
              <a:rPr lang="en-US" sz="1600" dirty="0" err="1">
                <a:solidFill>
                  <a:schemeClr val="bg1">
                    <a:lumMod val="75000"/>
                  </a:schemeClr>
                </a:solidFill>
              </a:rPr>
              <a:t>printf</a:t>
            </a:r>
            <a:r>
              <a:rPr lang="en-US" sz="1600" dirty="0">
                <a:solidFill>
                  <a:schemeClr val="bg1">
                    <a:lumMod val="75000"/>
                  </a:schemeClr>
                </a:solidFill>
              </a:rPr>
              <a:t>("Even number\n");</a:t>
            </a:r>
          </a:p>
          <a:p>
            <a:r>
              <a:rPr lang="en-US" sz="1600" dirty="0">
                <a:solidFill>
                  <a:schemeClr val="bg1">
                    <a:lumMod val="75000"/>
                  </a:schemeClr>
                </a:solidFill>
              </a:rPr>
              <a:t>    } else {</a:t>
            </a:r>
          </a:p>
          <a:p>
            <a:r>
              <a:rPr lang="en-US" sz="1600" dirty="0">
                <a:solidFill>
                  <a:schemeClr val="bg1">
                    <a:lumMod val="75000"/>
                  </a:schemeClr>
                </a:solidFill>
              </a:rPr>
              <a:t>        </a:t>
            </a:r>
            <a:r>
              <a:rPr lang="en-US" sz="1600" dirty="0" err="1">
                <a:solidFill>
                  <a:schemeClr val="bg1">
                    <a:lumMod val="75000"/>
                  </a:schemeClr>
                </a:solidFill>
              </a:rPr>
              <a:t>printf</a:t>
            </a:r>
            <a:r>
              <a:rPr lang="en-US" sz="1600" dirty="0">
                <a:solidFill>
                  <a:schemeClr val="bg1">
                    <a:lumMod val="75000"/>
                  </a:schemeClr>
                </a:solidFill>
              </a:rPr>
              <a:t>("Odd number\n");</a:t>
            </a:r>
          </a:p>
          <a:p>
            <a:r>
              <a:rPr lang="en-US" sz="1600" dirty="0">
                <a:solidFill>
                  <a:schemeClr val="bg1">
                    <a:lumMod val="75000"/>
                  </a:schemeClr>
                </a:solidFill>
              </a:rPr>
              <a:t>    }</a:t>
            </a:r>
          </a:p>
          <a:p>
            <a:endParaRPr lang="en-US" sz="1600" dirty="0">
              <a:solidFill>
                <a:schemeClr val="bg1">
                  <a:lumMod val="75000"/>
                </a:schemeClr>
              </a:solidFill>
            </a:endParaRPr>
          </a:p>
          <a:p>
            <a:r>
              <a:rPr lang="en-US" sz="1600" dirty="0">
                <a:solidFill>
                  <a:schemeClr val="bg1">
                    <a:lumMod val="75000"/>
                  </a:schemeClr>
                </a:solidFill>
              </a:rPr>
              <a:t>    return 0;</a:t>
            </a:r>
          </a:p>
          <a:p>
            <a:r>
              <a:rPr lang="en-US" sz="1600" dirty="0">
                <a:solidFill>
                  <a:schemeClr val="bg1">
                    <a:lumMod val="75000"/>
                  </a:schemeClr>
                </a:solidFill>
              </a:rPr>
              <a:t>}</a:t>
            </a:r>
          </a:p>
        </p:txBody>
      </p:sp>
    </p:spTree>
    <p:extLst>
      <p:ext uri="{BB962C8B-B14F-4D97-AF65-F5344CB8AC3E}">
        <p14:creationId xmlns:p14="http://schemas.microsoft.com/office/powerpoint/2010/main" val="3177236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518</Words>
  <Application>Microsoft Office PowerPoint</Application>
  <PresentationFormat>Geniş ekran</PresentationFormat>
  <Paragraphs>53</Paragraphs>
  <Slides>3</Slides>
  <Notes>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vt:i4>
      </vt:variant>
    </vt:vector>
  </HeadingPairs>
  <TitlesOfParts>
    <vt:vector size="7" baseType="lpstr">
      <vt:lpstr>Aptos</vt:lpstr>
      <vt:lpstr>Arial</vt:lpstr>
      <vt:lpstr>Calibri</vt:lpstr>
      <vt:lpstr>Office Theme</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Deniz</dc:creator>
  <cp:keywords/>
  <dc:description>generated using python-pptx</dc:description>
  <cp:lastModifiedBy>Umut Deniz Gayretli</cp:lastModifiedBy>
  <cp:revision>5</cp:revision>
  <dcterms:created xsi:type="dcterms:W3CDTF">2013-01-27T09:14:16Z</dcterms:created>
  <dcterms:modified xsi:type="dcterms:W3CDTF">2026-10-17T20:07:14Z</dcterms:modified>
  <cp:category/>
</cp:coreProperties>
</file>